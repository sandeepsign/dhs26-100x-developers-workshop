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7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E18EB-DB6B-514F-93D1-5A5737CD465D}" v="4" dt="2026-06-08T05:51:32.996"/>
    <p1510:client id="{9D2630A3-01F1-B3A4-3C1C-E3C4B9D4185A}" v="19" dt="2026-06-08T07:58:43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7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F2247"/>
                </a:solidFill>
                <a:latin typeface="Calibri"/>
              </a:defRPr>
            </a:pPr>
            <a:r>
              <a:rPr lang="en-US" sz="1300" b="1" i="0" u="none" strike="noStrike">
                <a:solidFill>
                  <a:srgbClr val="0F2247"/>
                </a:solidFill>
                <a:latin typeface="Calibri"/>
              </a:rPr>
              <a:t>Enterprises running agentic AI in production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Adoption</c:v>
                </c:pt>
              </c:strCache>
            </c:strRef>
          </c:tx>
          <c:spPr>
            <a:solidFill>
              <a:srgbClr val="2D7FF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F224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19</c:v>
                </c:pt>
                <c:pt idx="2">
                  <c:v>37</c:v>
                </c:pt>
                <c:pt idx="3">
                  <c:v>58</c:v>
                </c:pt>
                <c:pt idx="4">
                  <c:v>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C5-47C2-992F-EB5BC27003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3A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C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D8CC80-46D1-4B6F-9086-510E80774687}" type="datetimeFigureOut"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F48A4-F1E9-490D-8E72-314064DE6C2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17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4122C-8C54-E0A0-655E-CE297F1C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8240F-C18D-AB6B-AD34-BAB40E252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70255-59C9-7E5C-C4C7-A3CD03049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6CB5A-7F73-B2EE-324C-8D28DE12D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29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502920" y="1874520"/>
            <a:ext cx="1965960" cy="420624"/>
          </a:xfrm>
          <a:prstGeom prst="roundRect">
            <a:avLst>
              <a:gd name="adj" fmla="val 50000"/>
            </a:avLst>
          </a:prstGeom>
          <a:solidFill>
            <a:srgbClr val="1A1330"/>
          </a:solidFill>
          <a:ln w="15875">
            <a:solidFill>
              <a:srgbClr val="667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502920" y="18745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>
                <a:solidFill>
                  <a:srgbClr val="66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150"/>
          </a:p>
        </p:txBody>
      </p:sp>
      <p:sp>
        <p:nvSpPr>
          <p:cNvPr id="6" name="Text 2"/>
          <p:cNvSpPr/>
          <p:nvPr/>
        </p:nvSpPr>
        <p:spPr>
          <a:xfrm>
            <a:off x="502920" y="260604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kern="0" spc="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&lt;&lt; Session Title &gt;&gt;</a:t>
            </a:r>
            <a:endParaRPr lang="en-US" sz="4600"/>
          </a:p>
        </p:txBody>
      </p:sp>
      <p:sp>
        <p:nvSpPr>
          <p:cNvPr id="7" name="Text 3"/>
          <p:cNvSpPr/>
          <p:nvPr/>
        </p:nvSpPr>
        <p:spPr>
          <a:xfrm>
            <a:off x="512064" y="41605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 A short, compelling subtitle for your talk &gt;&gt;</a:t>
            </a:r>
            <a:endParaRPr lang="en-US" sz="1600"/>
          </a:p>
        </p:txBody>
      </p:sp>
      <p:sp>
        <p:nvSpPr>
          <p:cNvPr id="8" name="Text 4"/>
          <p:cNvSpPr/>
          <p:nvPr/>
        </p:nvSpPr>
        <p:spPr>
          <a:xfrm>
            <a:off x="512064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</a:t>
            </a:r>
            <a:endParaRPr lang="en-US" sz="1200"/>
          </a:p>
        </p:txBody>
      </p:sp>
      <p:sp>
        <p:nvSpPr>
          <p:cNvPr id="9" name="Shape 5"/>
          <p:cNvSpPr/>
          <p:nvPr/>
        </p:nvSpPr>
        <p:spPr>
          <a:xfrm>
            <a:off x="512064" y="5047488"/>
            <a:ext cx="1280160" cy="4114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02920" y="517550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&lt;&lt; Speaker Name &gt;&gt;</a:t>
            </a:r>
            <a:endParaRPr lang="en-US" sz="2300"/>
          </a:p>
        </p:txBody>
      </p:sp>
      <p:sp>
        <p:nvSpPr>
          <p:cNvPr id="11" name="Text 7"/>
          <p:cNvSpPr/>
          <p:nvPr/>
        </p:nvSpPr>
        <p:spPr>
          <a:xfrm>
            <a:off x="512064" y="5687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>
              <a:solidFill>
                <a:srgbClr val="AEB6CF"/>
              </a:solidFill>
              <a:ea typeface="Calibri"/>
              <a:cs typeface="Calibri"/>
            </a:endParaRPr>
          </a:p>
        </p:txBody>
      </p:sp>
      <p:sp>
        <p:nvSpPr>
          <p:cNvPr id="21" name="Text Footer Date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22" name="Text Footer HxAI"/>
          <p:cNvSpPr/>
          <p:nvPr/>
        </p:nvSpPr>
        <p:spPr>
          <a:xfrm>
            <a:off x="8229600" y="640080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r>
              <a:rPr lang="en-US" sz="1300">
                <a:solidFill>
                  <a:srgbClr val="9A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 </a:t>
            </a:r>
            <a:r>
              <a:rPr lang="en-US" sz="1300" b="1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300"/>
          </a:p>
        </p:txBody>
      </p:sp>
      <p:pic>
        <p:nvPicPr>
          <p:cNvPr id="14" name="Picture 13" descr="preencoded.png">
            <a:extLst>
              <a:ext uri="{FF2B5EF4-FFF2-40B4-BE49-F238E27FC236}">
                <a16:creationId xmlns:a16="http://schemas.microsoft.com/office/drawing/2014/main" id="{B8DF4AD5-0739-02A6-00EF-6EB115F129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6820429" y="809097"/>
            <a:ext cx="5112808" cy="5068578"/>
          </a:xfrm>
          <a:prstGeom prst="rect">
            <a:avLst/>
          </a:prstGeom>
        </p:spPr>
      </p:pic>
      <p:pic>
        <p:nvPicPr>
          <p:cNvPr id="16" name="Picture 15" descr="A black and white logo  AI-generated content may be incorrect.">
            <a:extLst>
              <a:ext uri="{FF2B5EF4-FFF2-40B4-BE49-F238E27FC236}">
                <a16:creationId xmlns:a16="http://schemas.microsoft.com/office/drawing/2014/main" id="{1B29DB45-34B1-B5D2-4B4E-6C4F784E19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98" y="272006"/>
            <a:ext cx="3196169" cy="57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115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2114E-12E7-7155-A7DA-AF2F85C2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D93CDB-E710-9960-24B3-594FE67B39A6}"/>
              </a:ext>
            </a:extLst>
          </p:cNvPr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8D09E8-44B5-4A76-68D7-49214D94ECDB}"/>
              </a:ext>
            </a:extLst>
          </p:cNvPr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>
                <a:solidFill>
                  <a:srgbClr val="0F2247"/>
                </a:solidFill>
                <a:latin typeface="Arial"/>
                <a:ea typeface="+mn-lt"/>
                <a:cs typeface="Arial"/>
              </a:rPr>
              <a:t>SCAN THIS QR CODE</a:t>
            </a:r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83AC64-37FB-2B7C-A60C-21E2E72B1776}"/>
              </a:ext>
            </a:extLst>
          </p:cNvPr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B5743F8-68ED-A2CC-2534-EA4AE27A90B6}"/>
              </a:ext>
            </a:extLst>
          </p:cNvPr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solidFill>
            <a:srgbClr val="F3F6FC"/>
          </a:solidFill>
          <a:ln w="15875">
            <a:solidFill>
              <a:srgbClr val="B9C7D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hs/assets2/icons/network.png">
            <a:extLst>
              <a:ext uri="{FF2B5EF4-FFF2-40B4-BE49-F238E27FC236}">
                <a16:creationId xmlns:a16="http://schemas.microsoft.com/office/drawing/2014/main" id="{136A046D-0DA5-CCFF-5BEC-E63025A27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2866644"/>
            <a:ext cx="777240" cy="77724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020D325B-C900-86D9-7016-ABCB0F08DFC9}"/>
              </a:ext>
            </a:extLst>
          </p:cNvPr>
          <p:cNvSpPr/>
          <p:nvPr/>
        </p:nvSpPr>
        <p:spPr>
          <a:xfrm>
            <a:off x="685800" y="3735324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diagram / screenshot</a:t>
            </a:r>
            <a:endParaRPr lang="en-US" sz="120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DA869DD1-E5F6-ADC3-29AC-6F3C62827CEF}"/>
              </a:ext>
            </a:extLst>
          </p:cNvPr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6AE37FD4-7FC0-7C24-5804-7D90B078A7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0CCE9079-A86A-9372-9ADB-DBAC133F295C}"/>
              </a:ext>
            </a:extLst>
          </p:cNvPr>
          <p:cNvSpPr/>
          <p:nvPr/>
        </p:nvSpPr>
        <p:spPr>
          <a:xfrm>
            <a:off x="6340041" y="1836421"/>
            <a:ext cx="5463941" cy="71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0F2247"/>
                </a:solidFill>
                <a:ea typeface="+mn-lt"/>
                <a:cs typeface="+mn-lt"/>
              </a:rPr>
              <a:t>Scan to access session resources</a:t>
            </a:r>
            <a:endParaRPr lang="en-US" sz="2800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BB24D4E-0E8A-852A-A0B3-CB3356346CC3}"/>
              </a:ext>
            </a:extLst>
          </p:cNvPr>
          <p:cNvSpPr/>
          <p:nvPr/>
        </p:nvSpPr>
        <p:spPr>
          <a:xfrm>
            <a:off x="6340041" y="2280426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3A4866"/>
                </a:solidFill>
                <a:ea typeface="+mn-lt"/>
                <a:cs typeface="+mn-lt"/>
              </a:rPr>
              <a:t>All files for today’s session in one place</a:t>
            </a:r>
            <a:endParaRPr lang="en-U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25E1FFEA-9D5E-B31D-32EF-5A2E5C2B01FF}"/>
              </a:ext>
            </a:extLst>
          </p:cNvPr>
          <p:cNvSpPr/>
          <p:nvPr/>
        </p:nvSpPr>
        <p:spPr>
          <a:xfrm>
            <a:off x="6720840" y="3193101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Datasets and sample files</a:t>
            </a:r>
            <a:endParaRPr lang="en-US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22BD7E4D-8C74-0052-19C3-0AC687508A15}"/>
              </a:ext>
            </a:extLst>
          </p:cNvPr>
          <p:cNvSpPr/>
          <p:nvPr/>
        </p:nvSpPr>
        <p:spPr>
          <a:xfrm>
            <a:off x="6720840" y="3705165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Presentation deck</a:t>
            </a:r>
            <a:endParaRPr lang="en-US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62E7F96-C16C-A479-AD18-DAB3BDC59B26}"/>
              </a:ext>
            </a:extLst>
          </p:cNvPr>
          <p:cNvSpPr/>
          <p:nvPr/>
        </p:nvSpPr>
        <p:spPr>
          <a:xfrm>
            <a:off x="6720840" y="4217229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Code files and notebooks</a:t>
            </a:r>
            <a:endParaRPr lang="en-US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0EC4C5B2-15C8-9830-BEB9-D30AA8642A4F}"/>
              </a:ext>
            </a:extLst>
          </p:cNvPr>
          <p:cNvSpPr/>
          <p:nvPr/>
        </p:nvSpPr>
        <p:spPr>
          <a:xfrm>
            <a:off x="6720840" y="4729293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Reference links and guides</a:t>
            </a:r>
            <a:endParaRPr lang="en-US"/>
          </a:p>
        </p:txBody>
      </p:sp>
      <p:pic>
        <p:nvPicPr>
          <p:cNvPr id="24" name="Image 2" descr="/home/claude/dhs/assets2/icons/check.png">
            <a:extLst>
              <a:ext uri="{FF2B5EF4-FFF2-40B4-BE49-F238E27FC236}">
                <a16:creationId xmlns:a16="http://schemas.microsoft.com/office/drawing/2014/main" id="{A736BCF1-B1BD-F919-4CF5-70C524BCE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293805"/>
            <a:ext cx="256032" cy="256032"/>
          </a:xfrm>
          <a:prstGeom prst="rect">
            <a:avLst/>
          </a:prstGeom>
        </p:spPr>
      </p:pic>
      <p:pic>
        <p:nvPicPr>
          <p:cNvPr id="26" name="Image 3" descr="/home/claude/dhs/assets2/icons/check.png">
            <a:extLst>
              <a:ext uri="{FF2B5EF4-FFF2-40B4-BE49-F238E27FC236}">
                <a16:creationId xmlns:a16="http://schemas.microsoft.com/office/drawing/2014/main" id="{0FB1345D-BE3E-1A48-2B3E-C7C266556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805869"/>
            <a:ext cx="256032" cy="256032"/>
          </a:xfrm>
          <a:prstGeom prst="rect">
            <a:avLst/>
          </a:prstGeom>
        </p:spPr>
      </p:pic>
      <p:pic>
        <p:nvPicPr>
          <p:cNvPr id="28" name="Image 4" descr="/home/claude/dhs/assets2/icons/check.png">
            <a:extLst>
              <a:ext uri="{FF2B5EF4-FFF2-40B4-BE49-F238E27FC236}">
                <a16:creationId xmlns:a16="http://schemas.microsoft.com/office/drawing/2014/main" id="{D6DAF8CF-3713-EC4A-31C6-7AA871186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317933"/>
            <a:ext cx="256032" cy="256032"/>
          </a:xfrm>
          <a:prstGeom prst="rect">
            <a:avLst/>
          </a:prstGeom>
        </p:spPr>
      </p:pic>
      <p:pic>
        <p:nvPicPr>
          <p:cNvPr id="34" name="Image 4" descr="/home/claude/dhs/assets2/icons/check.png">
            <a:extLst>
              <a:ext uri="{FF2B5EF4-FFF2-40B4-BE49-F238E27FC236}">
                <a16:creationId xmlns:a16="http://schemas.microsoft.com/office/drawing/2014/main" id="{829EED07-4649-C3DE-548A-814E2E52F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794184"/>
            <a:ext cx="25603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166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400"/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300"/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 Goes Here</a:t>
            </a:r>
            <a:endParaRPr lang="en-US" sz="4200"/>
          </a:p>
        </p:txBody>
      </p:sp>
      <p:sp>
        <p:nvSpPr>
          <p:cNvPr id="6" name="Text 3"/>
          <p:cNvSpPr/>
          <p:nvPr/>
        </p:nvSpPr>
        <p:spPr>
          <a:xfrm>
            <a:off x="512064" y="4572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that frames what this section will cover.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8450612" y="653384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>
                <a:solidFill>
                  <a:srgbClr val="3886F0"/>
                </a:solidFill>
                <a:latin typeface="Arial"/>
                <a:ea typeface="+mn-lt"/>
                <a:cs typeface="Arial"/>
              </a:rPr>
              <a:t>Human</a:t>
            </a:r>
            <a:r>
              <a:rPr lang="en-US" sz="1300">
                <a:solidFill>
                  <a:srgbClr val="777799"/>
                </a:solidFill>
                <a:latin typeface="Arial"/>
                <a:ea typeface="+mn-lt"/>
                <a:cs typeface="Arial"/>
              </a:rPr>
              <a:t> × </a:t>
            </a:r>
            <a:r>
              <a:rPr lang="en-US" sz="1300" b="1">
                <a:solidFill>
                  <a:srgbClr val="17B4AC"/>
                </a:solidFill>
                <a:latin typeface="Arial"/>
                <a:ea typeface="+mn-lt"/>
                <a:cs typeface="Arial"/>
              </a:rPr>
              <a:t>AI</a:t>
            </a:r>
            <a:endParaRPr lang="en-US" sz="1300">
              <a:solidFill>
                <a:srgbClr val="17B4AC"/>
              </a:solidFill>
              <a:latin typeface="Arial"/>
              <a:ea typeface="+mn-lt"/>
              <a:cs typeface="Arial"/>
            </a:endParaRPr>
          </a:p>
          <a:p>
            <a:pPr algn="r"/>
            <a:endParaRPr lang="en-US" sz="1300" b="1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10" name="Picture 9" descr="preencoded.png">
            <a:extLst>
              <a:ext uri="{FF2B5EF4-FFF2-40B4-BE49-F238E27FC236}">
                <a16:creationId xmlns:a16="http://schemas.microsoft.com/office/drawing/2014/main" id="{B0152DA7-943D-E4FD-C21F-6FED3C2829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6704013" y="481013"/>
            <a:ext cx="5483224" cy="54601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  ·  Bulleted Layout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for arguments, takeaways, or a structured narrative — one or two lines each.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the new control plane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Orchestration, memory and tools sit above the model — not inside one prompt.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chatbots to coworkers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plan, act and verify across multi-step workflows, humans in the loop.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66928" y="4005072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 the real product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observability and guardrails decide what reaches production.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566928" y="4956048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83717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set intent, AI executes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layer turns goals into governed, auditable action.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8732520" y="20116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32520" y="21214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5000"/>
          </a:p>
        </p:txBody>
      </p:sp>
      <p:sp>
        <p:nvSpPr>
          <p:cNvPr id="16" name="Text 14"/>
          <p:cNvSpPr/>
          <p:nvPr/>
        </p:nvSpPr>
        <p:spPr>
          <a:xfrm>
            <a:off x="8823960" y="29992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sessions across 4 days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8732520" y="38404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32520" y="3950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7th</a:t>
            </a:r>
            <a:endParaRPr lang="en-US" sz="5000"/>
          </a:p>
        </p:txBody>
      </p:sp>
      <p:sp>
        <p:nvSpPr>
          <p:cNvPr id="19" name="Text 17"/>
          <p:cNvSpPr/>
          <p:nvPr/>
        </p:nvSpPr>
        <p:spPr>
          <a:xfrm>
            <a:off x="8823960" y="48280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 of India's largest AI summit</a:t>
            </a:r>
            <a:endParaRPr lang="en-US" sz="1250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 ·  Image with Text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solidFill>
            <a:srgbClr val="F3F6FC"/>
          </a:solidFill>
          <a:ln w="15875">
            <a:solidFill>
              <a:srgbClr val="B9C7D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hs/assets2/icons/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2866644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735324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diagram / screenshot</a:t>
            </a:r>
            <a:endParaRPr lang="en-US" sz="1200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idea in one strong sentence.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 visual on the left with focused explanation on the right. Ideal for architectures, product UI, or before/after states.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decomposes the goal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retrieval ground each step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checks before commit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 high-risk actions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 ·  Two-Image Collage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F3F6FC"/>
          </a:solidFill>
          <a:ln w="15875">
            <a:solidFill>
              <a:srgbClr val="B9C7D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hs/assets2/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2683764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55244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 — replace me</a:t>
            </a:r>
            <a:endParaRPr lang="en-US" sz="1200"/>
          </a:p>
        </p:txBody>
      </p:sp>
      <p:sp>
        <p:nvSpPr>
          <p:cNvPr id="8" name="Shape 5"/>
          <p:cNvSpPr/>
          <p:nvPr/>
        </p:nvSpPr>
        <p:spPr>
          <a:xfrm>
            <a:off x="6336792" y="164592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F3F6FC"/>
          </a:solidFill>
          <a:ln w="15875">
            <a:solidFill>
              <a:srgbClr val="B9C7D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dhs/assets2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2" y="2683764"/>
            <a:ext cx="777240" cy="777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19672" y="355244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B — replace me</a:t>
            </a:r>
            <a:endParaRPr lang="en-US" sz="1200"/>
          </a:p>
        </p:txBody>
      </p:sp>
      <p:sp>
        <p:nvSpPr>
          <p:cNvPr id="11" name="Text 7"/>
          <p:cNvSpPr/>
          <p:nvPr/>
        </p:nvSpPr>
        <p:spPr>
          <a:xfrm>
            <a:off x="502920" y="54132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A — what the viewer sees</a:t>
            </a:r>
            <a:endParaRPr lang="en-US" sz="1200"/>
          </a:p>
        </p:txBody>
      </p:sp>
      <p:sp>
        <p:nvSpPr>
          <p:cNvPr id="12" name="Text 8"/>
          <p:cNvSpPr/>
          <p:nvPr/>
        </p:nvSpPr>
        <p:spPr>
          <a:xfrm>
            <a:off x="6336792" y="54132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B — and how it changed</a:t>
            </a:r>
            <a:endParaRPr lang="en-US" sz="1200"/>
          </a:p>
        </p:txBody>
      </p:sp>
      <p:sp>
        <p:nvSpPr>
          <p:cNvPr id="13" name="Shape 9"/>
          <p:cNvSpPr/>
          <p:nvPr/>
        </p:nvSpPr>
        <p:spPr>
          <a:xfrm>
            <a:off x="5733288" y="3063240"/>
            <a:ext cx="731520" cy="731520"/>
          </a:xfrm>
          <a:prstGeom prst="ellipse">
            <a:avLst/>
          </a:prstGeom>
          <a:solidFill>
            <a:srgbClr val="1FB6A6"/>
          </a:solidFill>
          <a:ln w="25400">
            <a:solidFill>
              <a:srgbClr val="FFFFFF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733288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/>
          </a:p>
        </p:txBody>
      </p:sp>
      <p:sp>
        <p:nvSpPr>
          <p:cNvPr id="16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17" name="Picture 16" descr="preencoded.png">
            <a:extLst>
              <a:ext uri="{FF2B5EF4-FFF2-40B4-BE49-F238E27FC236}">
                <a16:creationId xmlns:a16="http://schemas.microsoft.com/office/drawing/2014/main" id="{50E5CEBA-6CE2-2466-1824-D27F20904D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 ·  Image-Only Layout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11183112" cy="4069080"/>
          </a:xfrm>
          <a:prstGeom prst="roundRect">
            <a:avLst>
              <a:gd name="adj" fmla="val 1798"/>
            </a:avLst>
          </a:prstGeom>
          <a:solidFill>
            <a:srgbClr val="F3F6FC"/>
          </a:solidFill>
          <a:ln w="15875">
            <a:solidFill>
              <a:srgbClr val="B9C7D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hs/assets2/icons/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856" y="2820924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689604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7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Full-bleed image / live demo screenshot — replace this frame</a:t>
            </a:r>
            <a:endParaRPr lang="en-US" sz="1200"/>
          </a:p>
        </p:txBody>
      </p:sp>
      <p:sp>
        <p:nvSpPr>
          <p:cNvPr id="8" name="Shape 5"/>
          <p:cNvSpPr/>
          <p:nvPr/>
        </p:nvSpPr>
        <p:spPr>
          <a:xfrm>
            <a:off x="502920" y="5779008"/>
            <a:ext cx="6766560" cy="457200"/>
          </a:xfrm>
          <a:prstGeom prst="roundRect">
            <a:avLst>
              <a:gd name="adj" fmla="val 20000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57790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D7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 </a:t>
            </a: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high-impact visual with a short caption.</a:t>
            </a:r>
            <a:endParaRPr lang="en-US" sz="1200"/>
          </a:p>
        </p:txBody>
      </p:sp>
      <p:sp>
        <p:nvSpPr>
          <p:cNvPr id="11" name="Text 7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12" name="Picture 11" descr="preencoded.png">
            <a:extLst>
              <a:ext uri="{FF2B5EF4-FFF2-40B4-BE49-F238E27FC236}">
                <a16:creationId xmlns:a16="http://schemas.microsoft.com/office/drawing/2014/main" id="{4D67B3B1-2EB3-6A35-C5C8-1A1AADB96F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 ·  Code Layout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7086600" cy="4160520"/>
          </a:xfrm>
          <a:prstGeom prst="roundRect">
            <a:avLst>
              <a:gd name="adj" fmla="val 1758"/>
            </a:avLst>
          </a:prstGeom>
          <a:solidFill>
            <a:srgbClr val="0C1830"/>
          </a:solidFill>
          <a:ln w="12700">
            <a:solidFill>
              <a:srgbClr val="20305A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182880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70432" y="182880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agent_loop.py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6583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agency </a:t>
            </a:r>
            <a:r>
              <a:rPr lang="en-US" sz="125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Agent, Tool, Verifier
</a:t>
            </a:r>
            <a:r>
              <a:rPr lang="en-US" sz="1250">
                <a:solidFill>
                  <a:srgbClr val="5C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</a:t>
            </a:r>
            <a:r>
              <a:rPr lang="en-US" sz="12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Agent(
    model=</a:t>
            </a:r>
            <a:r>
              <a:rPr lang="en-US" sz="1250">
                <a:solidFill>
                  <a:srgbClr val="9DE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"opus-4.8"</a:t>
            </a:r>
            <a:r>
              <a:rPr lang="en-US" sz="12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tools=[search, run_sql, deploy],
    verifier=Verifier(</a:t>
            </a:r>
            <a:r>
              <a:rPr lang="en-US" sz="1250">
                <a:solidFill>
                  <a:srgbClr val="9DE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"human_in_loop"</a:t>
            </a:r>
            <a:r>
              <a:rPr lang="en-US" sz="12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
)
</a:t>
            </a:r>
            <a:r>
              <a:rPr lang="en-US" sz="1250">
                <a:solidFill>
                  <a:srgbClr val="5C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</a:t>
            </a:r>
            <a:r>
              <a:rPr lang="en-US" sz="12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agent.plan(goal)
</a:t>
            </a:r>
            <a:r>
              <a:rPr lang="en-US" sz="125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step </a:t>
            </a:r>
            <a:r>
              <a:rPr lang="en-US" sz="125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plan:
    r = agent.act(step)
    </a:t>
            </a:r>
            <a:r>
              <a:rPr lang="en-US" sz="125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r.risky: </a:t>
            </a:r>
            <a:r>
              <a:rPr lang="en-US" sz="125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2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human.ok(step)  </a:t>
            </a:r>
            <a:r>
              <a:rPr lang="en-US" sz="12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guardrail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8001000" y="164592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13648" y="16459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call out</a:t>
            </a:r>
            <a:endParaRPr lang="en-US" sz="1700"/>
          </a:p>
        </p:txBody>
      </p:sp>
      <p:sp>
        <p:nvSpPr>
          <p:cNvPr id="14" name="Shape 11"/>
          <p:cNvSpPr/>
          <p:nvPr/>
        </p:nvSpPr>
        <p:spPr>
          <a:xfrm>
            <a:off x="8028432" y="252374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75320" y="24140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snippets to 12–18 lines</a:t>
            </a:r>
            <a:endParaRPr lang="en-US" sz="1300"/>
          </a:p>
        </p:txBody>
      </p:sp>
      <p:sp>
        <p:nvSpPr>
          <p:cNvPr id="16" name="Shape 13"/>
          <p:cNvSpPr/>
          <p:nvPr/>
        </p:nvSpPr>
        <p:spPr>
          <a:xfrm>
            <a:off x="8028432" y="325526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75320" y="314553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the one line that matters</a:t>
            </a:r>
            <a:endParaRPr lang="en-US" sz="1300"/>
          </a:p>
        </p:txBody>
      </p:sp>
      <p:sp>
        <p:nvSpPr>
          <p:cNvPr id="18" name="Shape 15"/>
          <p:cNvSpPr/>
          <p:nvPr/>
        </p:nvSpPr>
        <p:spPr>
          <a:xfrm>
            <a:off x="8028432" y="398678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75320" y="387705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guardrails with comments</a:t>
            </a:r>
            <a:endParaRPr lang="en-US" sz="1300"/>
          </a:p>
        </p:txBody>
      </p:sp>
      <p:sp>
        <p:nvSpPr>
          <p:cNvPr id="20" name="Shape 17"/>
          <p:cNvSpPr/>
          <p:nvPr/>
        </p:nvSpPr>
        <p:spPr>
          <a:xfrm>
            <a:off x="8028432" y="471830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75320" y="46085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output, don't read code</a:t>
            </a:r>
            <a:endParaRPr lang="en-US" sz="1300"/>
          </a:p>
        </p:txBody>
      </p:sp>
      <p:sp>
        <p:nvSpPr>
          <p:cNvPr id="23" name="Text 19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2" name="Picture 21" descr="preencoded.png">
            <a:extLst>
              <a:ext uri="{FF2B5EF4-FFF2-40B4-BE49-F238E27FC236}">
                <a16:creationId xmlns:a16="http://schemas.microsoft.com/office/drawing/2014/main" id="{26371A44-7EBD-9EF7-C500-A871D28626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 ·  Data Layout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69164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69164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046720" y="207568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hs/assets2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9615" y="2198583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32520" y="183794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3.4×</a:t>
            </a:r>
            <a:endParaRPr lang="en-US" sz="3000"/>
          </a:p>
        </p:txBody>
      </p:sp>
      <p:sp>
        <p:nvSpPr>
          <p:cNvPr id="10" name="Text 6"/>
          <p:cNvSpPr/>
          <p:nvPr/>
        </p:nvSpPr>
        <p:spPr>
          <a:xfrm>
            <a:off x="8732520" y="2423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in agent deployments</a:t>
            </a:r>
            <a:endParaRPr lang="en-US" sz="1150"/>
          </a:p>
        </p:txBody>
      </p:sp>
      <p:sp>
        <p:nvSpPr>
          <p:cNvPr id="11" name="Shape 7"/>
          <p:cNvSpPr/>
          <p:nvPr/>
        </p:nvSpPr>
        <p:spPr>
          <a:xfrm>
            <a:off x="7818120" y="310896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8046720" y="349300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hs/assets2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9615" y="3615903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32520" y="325526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3000"/>
          </a:p>
        </p:txBody>
      </p:sp>
      <p:sp>
        <p:nvSpPr>
          <p:cNvPr id="15" name="Text 10"/>
          <p:cNvSpPr/>
          <p:nvPr/>
        </p:nvSpPr>
        <p:spPr>
          <a:xfrm>
            <a:off x="8732520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reliability as the #1 blocker</a:t>
            </a:r>
            <a:endParaRPr lang="en-US" sz="1150"/>
          </a:p>
        </p:txBody>
      </p:sp>
      <p:sp>
        <p:nvSpPr>
          <p:cNvPr id="16" name="Shape 11"/>
          <p:cNvSpPr/>
          <p:nvPr/>
        </p:nvSpPr>
        <p:spPr>
          <a:xfrm>
            <a:off x="7818120" y="452628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046720" y="491032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dhs/assets2/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9615" y="5033223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32520" y="467258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10k+</a:t>
            </a:r>
            <a:endParaRPr lang="en-US" sz="3000"/>
          </a:p>
        </p:txBody>
      </p:sp>
      <p:sp>
        <p:nvSpPr>
          <p:cNvPr id="20" name="Text 14"/>
          <p:cNvSpPr/>
          <p:nvPr/>
        </p:nvSpPr>
        <p:spPr>
          <a:xfrm>
            <a:off x="8732520" y="5257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 in the AV community</a:t>
            </a:r>
            <a:endParaRPr lang="en-US" sz="1150"/>
          </a:p>
        </p:txBody>
      </p:sp>
      <p:sp>
        <p:nvSpPr>
          <p:cNvPr id="22" name="Text 15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8DE1F829-C699-134C-5725-E611D61CB40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004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>
                <a:solidFill>
                  <a:srgbClr val="2D7F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/>
          </a:p>
        </p:txBody>
      </p:sp>
      <p:sp>
        <p:nvSpPr>
          <p:cNvPr id="4" name="Text 1"/>
          <p:cNvSpPr/>
          <p:nvPr/>
        </p:nvSpPr>
        <p:spPr>
          <a:xfrm>
            <a:off x="868680" y="2286000"/>
            <a:ext cx="7040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was never the product. The operating layer around it is.</a:t>
            </a:r>
            <a:endParaRPr lang="en-US" sz="3400"/>
          </a:p>
        </p:txBody>
      </p:sp>
      <p:sp>
        <p:nvSpPr>
          <p:cNvPr id="5" name="Shape 2"/>
          <p:cNvSpPr/>
          <p:nvPr/>
        </p:nvSpPr>
        <p:spPr>
          <a:xfrm>
            <a:off x="914400" y="4800600"/>
            <a:ext cx="457200" cy="45720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4937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for a bold claim, a key takeaway, or a memorable line.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8229600" y="640080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>
                <a:solidFill>
                  <a:srgbClr val="2D7FF9"/>
                </a:solidFill>
                <a:latin typeface="Arial"/>
                <a:ea typeface="Arial" pitchFamily="34" charset="-122"/>
                <a:cs typeface="Arial"/>
              </a:rPr>
              <a:t>Human</a:t>
            </a:r>
            <a:r>
              <a:rPr lang="en-US" sz="1300">
                <a:solidFill>
                  <a:srgbClr val="9AA4C0"/>
                </a:solidFill>
                <a:latin typeface="Arial"/>
                <a:ea typeface="Arial" pitchFamily="34" charset="-122"/>
                <a:cs typeface="Arial"/>
              </a:rPr>
              <a:t> ×</a:t>
            </a:r>
            <a:r>
              <a:rPr lang="en-US" sz="1300" b="1">
                <a:solidFill>
                  <a:srgbClr val="1FB6A6"/>
                </a:solidFill>
                <a:latin typeface="Arial"/>
                <a:ea typeface="Arial" pitchFamily="34" charset="-122"/>
                <a:cs typeface="Arial"/>
              </a:rPr>
              <a:t>AI</a:t>
            </a:r>
            <a:endParaRPr lang="en-US" sz="130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</p:txBody>
      </p:sp>
      <p:pic>
        <p:nvPicPr>
          <p:cNvPr id="10" name="Picture 9" descr="preencoded.png">
            <a:extLst>
              <a:ext uri="{FF2B5EF4-FFF2-40B4-BE49-F238E27FC236}">
                <a16:creationId xmlns:a16="http://schemas.microsoft.com/office/drawing/2014/main" id="{7415385C-DFCF-9C52-6875-301347B05C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7413096" y="650347"/>
            <a:ext cx="5483224" cy="54601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·  Process Flow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1421892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hs/assets2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79806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731520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context, retrieve knowledge, read state.</a:t>
            </a:r>
            <a:endParaRPr lang="en-US" sz="1200"/>
          </a:p>
        </p:txBody>
      </p:sp>
      <p:pic>
        <p:nvPicPr>
          <p:cNvPr id="11" name="Image 1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396" y="34290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02152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730752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/>
          </a:p>
        </p:txBody>
      </p:sp>
      <p:sp>
        <p:nvSpPr>
          <p:cNvPr id="14" name="Shape 10"/>
          <p:cNvSpPr/>
          <p:nvPr/>
        </p:nvSpPr>
        <p:spPr>
          <a:xfrm>
            <a:off x="4421124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hs/assets2/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2798064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9312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800"/>
          </a:p>
        </p:txBody>
      </p:sp>
      <p:sp>
        <p:nvSpPr>
          <p:cNvPr id="17" name="Text 12"/>
          <p:cNvSpPr/>
          <p:nvPr/>
        </p:nvSpPr>
        <p:spPr>
          <a:xfrm>
            <a:off x="3730752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the goal into ordered, tool-bound steps.</a:t>
            </a:r>
            <a:endParaRPr lang="en-US" sz="1200"/>
          </a:p>
        </p:txBody>
      </p:sp>
      <p:pic>
        <p:nvPicPr>
          <p:cNvPr id="18" name="Image 3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28" y="342900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501384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729984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/>
          </a:p>
        </p:txBody>
      </p:sp>
      <p:sp>
        <p:nvSpPr>
          <p:cNvPr id="21" name="Shape 15"/>
          <p:cNvSpPr/>
          <p:nvPr/>
        </p:nvSpPr>
        <p:spPr>
          <a:xfrm>
            <a:off x="7420356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dhs/assets2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4092" y="2798064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38544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800"/>
          </a:p>
        </p:txBody>
      </p:sp>
      <p:sp>
        <p:nvSpPr>
          <p:cNvPr id="24" name="Text 17"/>
          <p:cNvSpPr/>
          <p:nvPr/>
        </p:nvSpPr>
        <p:spPr>
          <a:xfrm>
            <a:off x="6729984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tools &amp; APIs to execute each step safely.</a:t>
            </a:r>
            <a:endParaRPr lang="en-US" sz="1200"/>
          </a:p>
        </p:txBody>
      </p:sp>
      <p:pic>
        <p:nvPicPr>
          <p:cNvPr id="25" name="Image 5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60" y="3429000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500616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9729216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/>
          </a:p>
        </p:txBody>
      </p:sp>
      <p:sp>
        <p:nvSpPr>
          <p:cNvPr id="28" name="Shape 20"/>
          <p:cNvSpPr/>
          <p:nvPr/>
        </p:nvSpPr>
        <p:spPr>
          <a:xfrm>
            <a:off x="10419588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/home/claude/dhs/assets2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3324" y="2798064"/>
            <a:ext cx="420624" cy="4206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637776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800"/>
          </a:p>
        </p:txBody>
      </p:sp>
      <p:sp>
        <p:nvSpPr>
          <p:cNvPr id="31" name="Text 22"/>
          <p:cNvSpPr/>
          <p:nvPr/>
        </p:nvSpPr>
        <p:spPr>
          <a:xfrm>
            <a:off x="9729216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results, apply guardrails, escalate to humans.</a:t>
            </a:r>
            <a:endParaRPr lang="en-US" sz="1200"/>
          </a:p>
        </p:txBody>
      </p:sp>
      <p:sp>
        <p:nvSpPr>
          <p:cNvPr id="32" name="Text 23"/>
          <p:cNvSpPr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the goal is met — with a human able to intervene at any step.</a:t>
            </a:r>
            <a:endParaRPr lang="en-US" sz="1350"/>
          </a:p>
        </p:txBody>
      </p:sp>
      <p:sp>
        <p:nvSpPr>
          <p:cNvPr id="34" name="Text 24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35" name="Picture 34" descr="preencoded.png">
            <a:extLst>
              <a:ext uri="{FF2B5EF4-FFF2-40B4-BE49-F238E27FC236}">
                <a16:creationId xmlns:a16="http://schemas.microsoft.com/office/drawing/2014/main" id="{63E227BD-095E-2686-5CEA-4378259DE8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706328" y="2836846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</a:t>
            </a:r>
            <a:r>
              <a:rPr lang="en-US" sz="6400" b="1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6400"/>
          </a:p>
        </p:txBody>
      </p:sp>
      <p:sp>
        <p:nvSpPr>
          <p:cNvPr id="15" name="Text 8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16" name="Text 9"/>
          <p:cNvSpPr/>
          <p:nvPr/>
        </p:nvSpPr>
        <p:spPr>
          <a:xfrm>
            <a:off x="8229600" y="640080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>
                <a:solidFill>
                  <a:srgbClr val="2D7FF9"/>
                </a:solidFill>
                <a:latin typeface="Arial"/>
                <a:ea typeface="Arial" pitchFamily="34" charset="-122"/>
                <a:cs typeface="Arial"/>
              </a:rPr>
              <a:t>Human</a:t>
            </a:r>
            <a:r>
              <a:rPr lang="en-US" sz="1300">
                <a:solidFill>
                  <a:srgbClr val="9AA4C0"/>
                </a:solidFill>
                <a:latin typeface="Arial"/>
                <a:ea typeface="Arial" pitchFamily="34" charset="-122"/>
                <a:cs typeface="Arial"/>
              </a:rPr>
              <a:t> ×</a:t>
            </a:r>
            <a:r>
              <a:rPr lang="en-US" sz="1300" b="1">
                <a:solidFill>
                  <a:srgbClr val="1FB6A6"/>
                </a:solidFill>
                <a:latin typeface="Arial"/>
                <a:ea typeface="Arial" pitchFamily="34" charset="-122"/>
                <a:cs typeface="Arial"/>
              </a:rPr>
              <a:t>AI</a:t>
            </a:r>
            <a:endParaRPr lang="en-US" sz="130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</p:txBody>
      </p:sp>
      <p:pic>
        <p:nvPicPr>
          <p:cNvPr id="20" name="Picture 19" descr="A black and white logo  AI-generated content may be incorrect.">
            <a:extLst>
              <a:ext uri="{FF2B5EF4-FFF2-40B4-BE49-F238E27FC236}">
                <a16:creationId xmlns:a16="http://schemas.microsoft.com/office/drawing/2014/main" id="{2D87E773-41B9-9598-E14E-762EC74A0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98" y="272006"/>
            <a:ext cx="3196169" cy="5778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Analytics Vidhya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DataHack Summit 2026 — Speaker Template</dc:title>
  <dc:subject>PptxGenJS Presentation</dc:subject>
  <dc:creator>DataHack Summit 2026</dc:creator>
  <cp:revision>14</cp:revision>
  <dcterms:created xsi:type="dcterms:W3CDTF">2026-06-04T10:00:53Z</dcterms:created>
  <dcterms:modified xsi:type="dcterms:W3CDTF">2026-06-08T07:59:23Z</dcterms:modified>
</cp:coreProperties>
</file>