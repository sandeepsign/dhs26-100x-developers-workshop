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4"/>
    <p:sldId id="264" r:id="rId11"/>
    <p:sldId id="259" r:id="rId6"/>
    <p:sldId id="262" r:id="rId9"/>
    <p:sldId id="265" r:id="rId12"/>
    <p:sldId id="273" r:id="rId24"/>
    <p:sldId id="260" r:id="rId7"/>
    <p:sldId id="258" r:id="rId5"/>
    <p:sldId id="269" r:id="rId20"/>
    <p:sldId id="274" r:id="rId25"/>
    <p:sldId id="267" r:id="rId3"/>
    <p:sldId id="270" r:id="rId21"/>
    <p:sldId id="271" r:id="rId22"/>
    <p:sldId id="272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E18EB-DB6B-514F-93D1-5A5737CD465D}" v="4" dt="2026-06-08T05:51:32.996"/>
    <p1510:client id="{9D2630A3-01F1-B3A4-3C1C-E3C4B9D4185A}" v="19" dt="2026-06-08T07:58:4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CC80-46D1-4B6F-9086-510E80774687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F48A4-F1E9-490D-8E72-314064DE6C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1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122C-8C54-E0A0-655E-CE297F1C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240F-C18D-AB6B-AD34-BAB40E25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0255-59C9-7E5C-C4C7-A3CD0304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B5A-7F73-B2EE-324C-8D28DE12D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0" Type="http://schemas.openxmlformats.org/officeDocument/2006/relationships/image" Target="../media/img_m2_tf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30" Type="http://schemas.openxmlformats.org/officeDocument/2006/relationships/image" Target="../media/img_m2_spec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30" Type="http://schemas.openxmlformats.org/officeDocument/2006/relationships/image" Target="../media/img_m2_sk.png"/><Relationship Id="rId31" Type="http://schemas.openxmlformats.org/officeDocument/2006/relationships/image" Target="../media/img_m2_os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30" Type="http://schemas.openxmlformats.org/officeDocument/2006/relationships/image" Target="../media/img_m2_ro.png"/></Relationships>
</file>

<file path=ppt/slides/_rels/slide15.xml.rels><?xml version="1.0" encoding="UTF-8" standalone="yes"?>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2114E-12E7-7155-A7DA-AF2F85C2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D93CDB-E710-9960-24B3-594FE67B39A6}"/>
              </a:ext>
            </a:extLst>
          </p:cNvPr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8D09E8-44B5-4A76-68D7-49214D94ECDB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F2247"/>
                </a:solidFill>
                <a:latin typeface="Arial"/>
                <a:ea typeface="+mn-lt"/>
                <a:cs typeface="Arial"/>
              </a:rPr>
              <a:t>BUILD #1 — TaskFlow, the anchor project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83AC64-37FB-2B7C-A60C-21E2E72B1776}"/>
              </a:ext>
            </a:extLst>
          </p:cNvPr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5743F8-68ED-A2CC-2534-EA4AE27A90B6}"/>
              </a:ext>
            </a:extLst>
          </p:cNvPr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3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869DD1-E5F6-ADC3-29AC-6F3C62827CEF}"/>
              </a:ext>
            </a:extLst>
          </p:cNvPr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6AE37FD4-7FC0-7C24-5804-7D90B078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CCE9079-A86A-9372-9ADB-DBAC133F295C}"/>
              </a:ext>
            </a:extLst>
          </p:cNvPr>
          <p:cNvSpPr/>
          <p:nvPr/>
        </p:nvSpPr>
        <p:spPr>
          <a:xfrm>
            <a:off x="6340041" y="1836421"/>
            <a:ext cx="5463941" cy="71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2247"/>
                </a:solidFill>
                <a:ea typeface="+mn-lt"/>
                <a:cs typeface="+mn-lt"/>
              </a:rPr>
              <a:t>The brief — three lines</a:t>
            </a:r>
            <a:endParaRPr lang="en-US" sz="28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BB24D4E-0E8A-852A-A0B3-CB3356346CC3}"/>
              </a:ext>
            </a:extLst>
          </p:cNvPr>
          <p:cNvSpPr/>
          <p:nvPr/>
        </p:nvSpPr>
        <p:spPr>
          <a:xfrm>
            <a:off x="6340041" y="2280426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3A4866"/>
                </a:solidFill>
                <a:ea typeface="+mn-lt"/>
                <a:cs typeface="+mn-lt"/>
              </a:rPr>
              <a:t>Take it through SpecKit → spec + plan → a thin working slice.</a:t>
            </a:r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5E1FFEA-9D5E-B31D-32EF-5A2E5C2B01FF}"/>
              </a:ext>
            </a:extLst>
          </p:cNvPr>
          <p:cNvSpPr/>
          <p:nvPr/>
        </p:nvSpPr>
        <p:spPr>
          <a:xfrm>
            <a:off x="6720840" y="3193101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Create tasks: title, assignee, due date</a:t>
            </a:r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2BD7E4D-8C74-0052-19C3-0AC687508A15}"/>
              </a:ext>
            </a:extLst>
          </p:cNvPr>
          <p:cNvSpPr/>
          <p:nvPr/>
        </p:nvSpPr>
        <p:spPr>
          <a:xfrm>
            <a:off x="6720840" y="3705165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Move across To-Do → In Progress → Done</a:t>
            </a:r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62E7F96-C16C-A479-AD18-DAB3BDC59B26}"/>
              </a:ext>
            </a:extLst>
          </p:cNvPr>
          <p:cNvSpPr/>
          <p:nvPr/>
        </p:nvSpPr>
        <p:spPr>
          <a:xfrm>
            <a:off x="6720840" y="4217229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Filter the board by assignee or status</a:t>
            </a:r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EC4C5B2-15C8-9830-BEB9-D30AA8642A4F}"/>
              </a:ext>
            </a:extLst>
          </p:cNvPr>
          <p:cNvSpPr/>
          <p:nvPr/>
        </p:nvSpPr>
        <p:spPr>
          <a:xfrm>
            <a:off x="6720840" y="4729293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This project threads through M3 → M7</a:t>
            </a:r>
            <a:endParaRPr lang="en-US"/>
          </a:p>
        </p:txBody>
      </p:sp>
      <p:pic>
        <p:nvPicPr>
          <p:cNvPr id="24" name="Image 2" descr="/home/claude/dhs/assets2/icons/check.png">
            <a:extLst>
              <a:ext uri="{FF2B5EF4-FFF2-40B4-BE49-F238E27FC236}">
                <a16:creationId xmlns:a16="http://schemas.microsoft.com/office/drawing/2014/main" id="{A736BCF1-B1BD-F919-4CF5-70C524BCE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93805"/>
            <a:ext cx="256032" cy="256032"/>
          </a:xfrm>
          <a:prstGeom prst="rect">
            <a:avLst/>
          </a:prstGeom>
        </p:spPr>
      </p:pic>
      <p:pic>
        <p:nvPicPr>
          <p:cNvPr id="26" name="Image 3" descr="/home/claude/dhs/assets2/icons/check.png">
            <a:extLst>
              <a:ext uri="{FF2B5EF4-FFF2-40B4-BE49-F238E27FC236}">
                <a16:creationId xmlns:a16="http://schemas.microsoft.com/office/drawing/2014/main" id="{0FB1345D-BE3E-1A48-2B3E-C7C266556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05869"/>
            <a:ext cx="256032" cy="256032"/>
          </a:xfrm>
          <a:prstGeom prst="rect">
            <a:avLst/>
          </a:prstGeom>
        </p:spPr>
      </p:pic>
      <p:pic>
        <p:nvPicPr>
          <p:cNvPr id="28" name="Image 4" descr="/home/claude/dhs/assets2/icons/check.png">
            <a:extLst>
              <a:ext uri="{FF2B5EF4-FFF2-40B4-BE49-F238E27FC236}">
                <a16:creationId xmlns:a16="http://schemas.microsoft.com/office/drawing/2014/main" id="{D6DAF8CF-3713-EC4A-31C6-7AA87118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17933"/>
            <a:ext cx="256032" cy="256032"/>
          </a:xfrm>
          <a:prstGeom prst="rect">
            <a:avLst/>
          </a:prstGeom>
        </p:spPr>
      </p:pic>
      <p:pic>
        <p:nvPicPr>
          <p:cNvPr id="34" name="Image 4" descr="/home/claude/dhs/assets2/icons/check.png">
            <a:extLst>
              <a:ext uri="{FF2B5EF4-FFF2-40B4-BE49-F238E27FC236}">
                <a16:creationId xmlns:a16="http://schemas.microsoft.com/office/drawing/2014/main" id="{829EED07-4649-C3DE-548A-814E2E52F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94184"/>
            <a:ext cx="256032" cy="256032"/>
          </a:xfrm>
          <a:prstGeom prst="rect">
            <a:avLst/>
          </a:prstGeom>
        </p:spPr>
      </p:pic>
      <p:sp>
        <p:nvSpPr>
          <p:cNvPr id="90" name="FileCallout"/>
          <p:cNvSpPr/>
          <p:nvPr/>
        </p:nvSpPr>
        <p:spPr>
          <a:xfrm>
            <a:off x="502920" y="6040000"/>
            <a:ext cx="1118311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E7202"/>
                </a:solidFill>
                <a:latin typeface="Arial" pitchFamily="34" charset="0"/>
              </a:rPr>
              <a:t xml:space="preserve">Your files:  </a:t>
            </a:r>
            <a:r>
              <a:rPr lang="en-US" sz="1050">
                <a:solidFill>
                  <a:srgbClr val="16264A"/>
                </a:solidFill>
                <a:latin typeface="Consolas" pitchFamily="34" charset="0"/>
                <a:cs typeface="Consolas" pitchFamily="34" charset="0"/>
              </a:rPr>
              <a:t>TaskFlow_Brief.md   ·   Build1_Lab_Guide.md   ·   reference-spec.md</a:t>
            </a:r>
          </a:p>
        </p:txBody>
      </p:sp>
    </p:spTree>
    <p:extLst>
      <p:ext uri="{BB962C8B-B14F-4D97-AF65-F5344CB8AC3E}">
        <p14:creationId xmlns:p14="http://schemas.microsoft.com/office/powerpoint/2010/main" val="279516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040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 ·  10:00–10:55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Methodologies &amp; Frameworks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spec is the contract — SpecKit and OpenSpec, and the anchor project the rest of the day builds on.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450612" y="6533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3886F0"/>
                </a:solidFill>
                <a:latin typeface="Arial"/>
                <a:ea typeface="+mn-lt"/>
                <a:cs typeface="Arial"/>
              </a:rPr>
              <a:t>Human</a:t>
            </a:r>
            <a:r>
              <a:rPr lang="en-US" sz="1300">
                <a:solidFill>
                  <a:srgbClr val="777799"/>
                </a:solidFill>
                <a:latin typeface="Arial"/>
                <a:ea typeface="+mn-lt"/>
                <a:cs typeface="Arial"/>
              </a:rPr>
              <a:t> × </a:t>
            </a:r>
            <a:r>
              <a:rPr lang="en-US" sz="1300" b="1">
                <a:solidFill>
                  <a:srgbClr val="17B4AC"/>
                </a:solidFill>
                <a:latin typeface="Arial"/>
                <a:ea typeface="+mn-lt"/>
                <a:cs typeface="Arial"/>
              </a:rPr>
              <a:t>AI</a:t>
            </a:r>
            <a:endParaRPr lang="en-US" sz="1300">
              <a:solidFill>
                <a:srgbClr val="17B4AC"/>
              </a:solidFill>
              <a:latin typeface="Arial"/>
              <a:ea typeface="+mn-lt"/>
              <a:cs typeface="Arial"/>
            </a:endParaRPr>
          </a:p>
          <a:p>
            <a:pPr algn="r"/>
            <a:endParaRPr lang="en-US" sz="13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B0152DA7-943D-E4FD-C21F-6FED3C28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704013" y="481013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spec to orchestrated execution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is not a document that rots — it drives the build, end to end.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plan → tasks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ask becomes a spec, then a plan, then ordered, traceable tasks.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plan mode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and approve the plan before a single file changes — you stay in control.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&amp; traceable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marked [P] run in parallel; each one traces back to a line in the spec.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stays the source of truth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docs, tests and code from it as the project evolves — no drift.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1→N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ask becomes ordered tasks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tasks trace back to the spec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 is the contract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3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artifact both the humans and the AI agree to build.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 pins down the what and why before any how. It is what you review, what the agent implements, and what you verify against.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ambiguity — the #1 cause of rework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 by the whole team before code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truth for docs and tests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model and tool changes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SpecKit vs OpenSpec — same goal, different shape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349240" cy="3703320"/>
          </a:xfrm>
          <a:prstGeom prst="roundRect">
            <a:avLst>
              <a:gd name="adj" fmla="val 1975"/>
            </a:avLst>
          </a:prstGeom>
          <a:blipFill>
            <a:blip r:embed="rId3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36792" y="1645920"/>
            <a:ext cx="5349240" cy="3703320"/>
          </a:xfrm>
          <a:prstGeom prst="roundRect">
            <a:avLst>
              <a:gd name="adj" fmla="val 1975"/>
            </a:avLst>
          </a:prstGeom>
          <a:blipFill>
            <a:blip r:embed="rId3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Phase-gated pipeline · greenfield · governed by a constitution</a:t>
            </a:r>
            <a:endParaRPr lang="en-US" sz="1200"/>
          </a:p>
        </p:txBody>
      </p:sp>
      <p:sp>
        <p:nvSpPr>
          <p:cNvPr id="12" name="Text 8"/>
          <p:cNvSpPr/>
          <p:nvPr/>
        </p:nvSpPr>
        <p:spPr>
          <a:xfrm>
            <a:off x="6336792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proposals · fluid &amp; reviewable · team-first, existing code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5733288" y="3063240"/>
            <a:ext cx="731520" cy="731520"/>
          </a:xfrm>
          <a:prstGeom prst="ellipse">
            <a:avLst/>
          </a:prstGeom>
          <a:solidFill>
            <a:srgbClr val="1FB6A6"/>
          </a:solidFill>
          <a:ln w="25400">
            <a:solidFill>
              <a:srgbClr val="FFFFFF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3328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/>
          </a:p>
        </p:txBody>
      </p:sp>
      <p:sp>
        <p:nvSpPr>
          <p:cNvPr id="16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17" name="Picture 16" descr="preencoded.png">
            <a:extLst>
              <a:ext uri="{FF2B5EF4-FFF2-40B4-BE49-F238E27FC236}">
                <a16:creationId xmlns:a16="http://schemas.microsoft.com/office/drawing/2014/main" id="{50E5CEBA-6CE2-2466-1824-D27F20904D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SpecKit — a phase-gated spec pipeline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speckit-flow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SpecKit — spec-driven, phase by phase
</a:t>
            </a:r>
            <a:r>
              <a:rPr lang="en-US" sz="12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run these inside Claude Code
</a:t>
            </a:r>
            <a:r>
              <a:rPr lang="en-US" sz="12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/speckit.constitution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project principles
</a:t>
            </a:r>
            <a:r>
              <a:rPr lang="en-US" sz="12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/speckit.specify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what &amp; why  -&gt;  spec.md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/speckit.clarify</a:t>
            </a:r>
            <a:r>
              <a:rPr lang="en-US" sz="12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(optional) de-risk gaps
</a:t>
            </a:r>
            <a:r>
              <a:rPr lang="en-US" sz="12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/speckit.plan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tech &amp; architecture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/speckit.analyze</a:t>
            </a:r>
            <a:r>
              <a:rPr lang="en-US" sz="12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(optional) consistency
</a:t>
            </a:r>
            <a:r>
              <a:rPr lang="en-US" sz="12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/speckit.tasks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ordered tasks  [P]=parallel
</a:t>
            </a:r>
            <a:r>
              <a:rPr lang="en-US" sz="12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/speckit.implement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build, in order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core phases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Constitution: rules every session obeys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→ Plan: what/why, then how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ordered, traceable, parallelizable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Implement: executes against the spec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2D7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in, chaos out. The spec is the contract.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prompting improvises. A methodology makes intent explicit, reviewable, and repeatable across a team.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7415385C-DFCF-9C52-6875-301347B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7413096" y="650347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 — a collaborative change loop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/opsx:propose — a change with rationale, spec deltas, tasks.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reviews the proposal before any code is written.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/opsx:apply — implement the tasks from the approved change.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/opsx:archive — fold the change into the living spec.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Fluid, not rigid — proposals iterate freely; alignment happens before code. Great for teams and existing codebases.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vague ask into a testable spec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spec.md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BEFORE — what the stakeholder says
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"we need a task tracker for the team"
</a:t>
            </a:r>
            <a:r>
              <a:rPr lang="en-US" sz="12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AFTER — /speckit.specify makes it testable
</a:t>
            </a:r>
            <a:r>
              <a:rPr lang="en-US" sz="12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User story: 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as a member I create a task
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with a title, assignee and due date.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AC1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a task requires a title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AC2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status = To-Do | In Progress | Done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AC3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 can filter the board by assignee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→ measurable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 is testable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 stack yet — that is /plan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both sides sign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Build #1 run-order (SpecKit)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3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commands turn the 3-line brief into a working slice.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them in order inside Claude Code, approving each artifact before you move on.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— set TaskFlow’s principles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— the what &amp; why, with acceptance criteria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tasks — tech choices, then ordered tasks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— a thin slice: model + API + tiny UI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— what to compare across methodologies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spec remove ambiguity before any code?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trace each task back to a line in the spec?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fit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felt right for a team vs. a solo greenfield start?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slice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from a 3-line brief to a working slice?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brief, two philosophies. Next: turn your slice into a real, deployed web app.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SpecKit &amp; OpenSpec — the cheatsheet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00" name="Cheatsheet"/>
          <p:cNvGraphicFramePr>
            <a:graphicFrameLocks noGrp="1"/>
          </p:cNvGraphicFramePr>
          <p:nvPr/>
        </p:nvGraphicFramePr>
        <p:xfrm>
          <a:off x="502920" y="1620000"/>
          <a:ext cx="11183112" cy="4440000"/>
        </p:xfrm>
        <a:graphic>
          <a:graphicData uri="http://schemas.openxmlformats.org/drawingml/2006/table">
            <a:tbl>
              <a:tblPr firstRow="1" bandRow="1"/>
              <a:tblGrid>
                <a:gridCol w="2300000"/>
                <a:gridCol w="4441556"/>
                <a:gridCol w="4441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/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SpecKit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OpenSpec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Install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uv tool install specify-cli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npm i -g @fission-ai/openspec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Start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specify init → pick Claude Code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openspec init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Core commands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/speckit.constitution · specify · plan · tasks · implement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/opsx:propose · apply · archive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Unit of work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phased pipeline (greenfield)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reviewable change proposal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Shape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phase-gated, governed by a constitution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fluid — no hard gates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Best for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starting a project the right way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teams evolving an existing codebase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 — the change loop, step by step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openspec-flow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1) install once
</a:t>
            </a:r>
            <a:r>
              <a:rPr lang="en-US" sz="11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npm install -g @fission-ai/openspec
</a:t>
            </a:r>
            <a:r>
              <a:rPr lang="en-US" sz="11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openspec init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# scaffolds openspec/, wires agent
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2) per change, inside Claude Code
</a:t>
            </a:r>
            <a:r>
              <a:rPr lang="en-US" sz="11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/opsx:propose </a:t>
            </a:r>
            <a:r>
              <a:rPr lang="en-US" sz="11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"due-date reminders"
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-&gt; proposal.md + spec deltas + tasks.md
</a:t>
            </a:r>
            <a:r>
              <a:rPr lang="en-US" sz="1150">
                <a:solidFill>
                  <a:srgbClr val="5C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-&gt; TEAM REVIEWS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before any code
</a:t>
            </a:r>
            <a:r>
              <a:rPr lang="en-US" sz="11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/opsx:apply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# implement approved tasks
</a:t>
            </a:r>
            <a:r>
              <a:rPr lang="en-US" sz="11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/opsx:archive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# fold into the living spec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the change before any code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reviews the diff first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— no hard phase gates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existing codebases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your files &amp; the flow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10" name="Files"/>
          <p:cNvGraphicFramePr>
            <a:graphicFrameLocks noGrp="1"/>
          </p:cNvGraphicFramePr>
          <p:nvPr/>
        </p:nvGraphicFramePr>
        <p:xfrm>
          <a:off x="502920" y="1620000"/>
          <a:ext cx="11183112" cy="4160000"/>
        </p:xfrm>
        <a:graphic>
          <a:graphicData uri="http://schemas.openxmlformats.org/drawingml/2006/table">
            <a:tbl>
              <a:tblPr firstRow="1" bandRow="1"/>
              <a:tblGrid>
                <a:gridCol w="3950000"/>
                <a:gridCol w="3616556"/>
                <a:gridCol w="361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File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What it is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When you use it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TaskFlow_Brief.md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The 3-line anchor-project brief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① Read first — before the build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Build1_Lab_Guide.md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Step-by-step SpecKit walkthrough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② Follow during Build #1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reference-spec.md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An example of a "good" spec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③ Compare your spec against it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SpecKit_Cheatsheet.md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SpecKit setup, phases &amp; commands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Keep open during the build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OpenSpec_Cheatsheet.md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OpenSpec walkthrough &amp; commands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Reference for the OpenSpec demo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Analytics Vidhya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DataHack Summit 2026 — Speaker Template</dc:title>
  <dc:subject>PptxGenJS Presentation</dc:subject>
  <dc:creator>DataHack Summit 2026</dc:creator>
  <cp:revision>14</cp:revision>
  <dcterms:created xsi:type="dcterms:W3CDTF">2026-06-04T10:00:53Z</dcterms:created>
  <dcterms:modified xsi:type="dcterms:W3CDTF">2026-06-08T07:59:23Z</dcterms:modified>
</cp:coreProperties>
</file>