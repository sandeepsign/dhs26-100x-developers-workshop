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65" r:id="rId12"/>
    <p:sldId id="258" r:id="rId5"/>
    <p:sldId id="259" r:id="rId6"/>
    <p:sldId id="262" r:id="rId9"/>
    <p:sldId id="260" r:id="rId7"/>
    <p:sldId id="275" r:id="rId26"/>
    <p:sldId id="267" r:id="rId3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20" Type="http://schemas.openxmlformats.org/officeDocument/2006/relationships/image" Target="../media/img_m1_starter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20" Type="http://schemas.openxmlformats.org/officeDocument/2006/relationships/image" Target="../media/img_m1_port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20" Type="http://schemas.openxmlformats.org/officeDocument/2006/relationships/image" Target="../media/img_m1_proto.png"/><Relationship Id="rId21" Type="http://schemas.openxmlformats.org/officeDocument/2006/relationships/image" Target="../media/img_m1_prod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#0 — first feature, four ways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2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Your task — 20 minutes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Same prompt, four tools. You run Claude Code; I mirror it live.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Open the starter index.html in Claude Code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Paste the structured prompt from your lab guide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Add a live search filter to the employee table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Compare with Cursor, Codex &amp; Gemini on screen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Build0_Lab_Guide.md   ·   index.html   ·   Prompt_Pattern_Cards.md   ·   Tool_Decision_Matrix.md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 ·  9:15–10:00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AI-Native Software Development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loop, the platform landscape, the prompting patterns that carry across every tool — then build one feature four ways.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landscape — where each tool fits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platforms, three families. Claude Code teaches every concept; the others shine in their lane.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IDE-native — the agent lives in your editor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autocomplete + agent inside a familiar VS Code. Best for hands-on-keyboard developers.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agentic — the agent runs your project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OpenAI Codex CLI, Gemini CLI. Full-repo, multi-step work; where this workshop lives.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prototyping — idea to running app in a browser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and V0: fastest path from a prompt to something you can click and share.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standard underneath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Cursor, Codex and Gemini all speak MCP — learn it once, use it everywhere.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platforms, one landscape you can navigate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families: IDE-native · terminal · cloud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patterns that carry across every tool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2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king: the agent knows only what you put in front of it.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moves work in Cursor, Codex, Gemini, Replit and V0. Master them here, once — every tool gets better.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explicit acceptance criteria — define what “done” means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example — one sample beats a paragraph of description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plan first, approve it, then let it build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with specific feedback — name the file, line, behavior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 for which job — the fast call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2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36792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2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· Replit · Cursor — speed, UI-first, solo, throwaway-ok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6336792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Cursor — real repo, tests, team, regulated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FB6A6"/>
          </a:solidFill>
          <a:ln w="254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33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7" name="Picture 16" descr="preencoded.png">
            <a:extLst>
              <a:ext uri="{FF2B5EF4-FFF2-40B4-BE49-F238E27FC236}">
                <a16:creationId xmlns:a16="http://schemas.microsoft.com/office/drawing/2014/main" id="{50E5CEBA-6CE2-2466-1824-D27F20904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strong prompt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build0-prompt.txt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Feature: live search filter for the table
# File: index.html — one file, inline CSS, no framework
</a:t>
            </a: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Acceptance criteria:
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1. Labeled search box above the table
  2. Filter rows as I type: Name OR Department
  3. Live "Showing X of Y" count
  4. Friendly empty state when nothing matches
  5. One file, no libraries, keep the style
</a:t>
            </a:r>
            <a:r>
              <a:rPr lang="en-US" sz="125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First outline your plan. Then implement.
Then tell me how to verify each criterion.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work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context: file, stack, limits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 a testable contract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Plan-first: approve before it builds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Self-verify: it checks each criterion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You’ve stopped writing code. You’re directing agents.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work is now intent — specified and verified, not lines typed.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loop — how the work actually happens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codebase, the task, and the acceptance criteria.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goal into ordered, tool-bound steps.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files, run commands and tests — one step at a time.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check against the criteria — you approve.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it meets the criteria — you can intervene at any step. This is taught live in Claude Code.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 as the four tools run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meet every acceptance criterion — first try?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see and approve the plan before it edits?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show its work — files touched, commands run?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&amp; fit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fast, and is this the right tool for the job?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four behaviors — that contrast is the lesson. Your reference matrix follows.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 for which job — the 30-second call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which-tool.txt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take the FIRST line that matches your task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throwaway prototype / first-look UI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-&gt; V0  or  Replit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AI alongside me inside my editor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-&gt; Cursor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real, production work on a real repo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-&gt; Claude Code  (or Cursor)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delegate a big task to background / CI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-&gt; OpenAI Codex (cloud)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free / open-source, in the terminal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-&gt; Gemini CLI
</a:t>
            </a:r>
            <a:r>
              <a:rPr lang="en-US" sz="12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specs, MCP, skills, sub-agents, docs, CI
</a:t>
            </a:r>
            <a:r>
              <a:rPr lang="en-US" sz="12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-&gt; Claude Code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first line that matches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“Production” = real repo, tests, review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CLIs speak MCP — portable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spans the whole lifecycle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platforms — at a glance (1 of 2)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00" name="Matrix Table"/>
          <p:cNvGraphicFramePr>
            <a:graphicFrameLocks noGrp="1"/>
          </p:cNvGraphicFramePr>
          <p:nvPr/>
        </p:nvGraphicFramePr>
        <p:xfrm>
          <a:off x="502920" y="1645920"/>
          <a:ext cx="11183112" cy="3336000"/>
        </p:xfrm>
        <a:graphic>
          <a:graphicData uri="http://schemas.openxmlformats.org/drawingml/2006/table">
            <a:tbl>
              <a:tblPr firstRow="1" bandRow="1"/>
              <a:tblGrid>
                <a:gridCol w="1700000"/>
                <a:gridCol w="1450000"/>
                <a:gridCol w="2600000"/>
                <a:gridCol w="3250000"/>
                <a:gridCol w="2183112"/>
              </a:tblGrid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Tool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Family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Best at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Reach for it when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Watch-out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0F2247"/>
                          </a:solidFill>
                          <a:latin typeface="Arial" pitchFamily="34" charset="0"/>
                          <a:cs typeface="Arial" pitchFamily="34" charset="0"/>
                        </a:rPr>
                        <a:t>Claude Code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Terminal · agentic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Full-lifecycle work on real repos: specs, MCP, skills, sub-agents, docs, CI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One tool from planning → build → review → docs → pipeline, humans on approval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Terminal tool — non-editor folks need a few minutes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0F2247"/>
                          </a:solidFill>
                          <a:latin typeface="Arial" pitchFamily="34" charset="0"/>
                          <a:cs typeface="Arial" pitchFamily="34" charset="0"/>
                        </a:rPr>
                        <a:t>Cursor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IDE-native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Hands-on-keyboard coding: AI autocomplete + an in-editor agent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developer wants AI inside familiar VS Code, with inline diffs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Editor-centric; less for hands-off delegation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0F2247"/>
                          </a:solidFill>
                          <a:latin typeface="Arial" pitchFamily="34" charset="0"/>
                          <a:cs typeface="Arial" pitchFamily="34" charset="0"/>
                        </a:rPr>
                        <a:t>OpenAI Codex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Terminal + cloud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Delegating tasks to run in the background / in CI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Hand off a scoped task and get a PR back; AI review in the pipeline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Cloud delegation shines with clear, self-contained tasks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platforms — at a glance (2 of 2)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00" name="Matrix Table"/>
          <p:cNvGraphicFramePr>
            <a:graphicFrameLocks noGrp="1"/>
          </p:cNvGraphicFramePr>
          <p:nvPr/>
        </p:nvGraphicFramePr>
        <p:xfrm>
          <a:off x="502920" y="1645920"/>
          <a:ext cx="11183112" cy="3336000"/>
        </p:xfrm>
        <a:graphic>
          <a:graphicData uri="http://schemas.openxmlformats.org/drawingml/2006/table">
            <a:tbl>
              <a:tblPr firstRow="1" bandRow="1"/>
              <a:tblGrid>
                <a:gridCol w="1700000"/>
                <a:gridCol w="1450000"/>
                <a:gridCol w="2600000"/>
                <a:gridCol w="3250000"/>
                <a:gridCol w="2183112"/>
              </a:tblGrid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Tool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Family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Best at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Reach for it when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Watch-out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0F2247"/>
                          </a:solidFill>
                          <a:latin typeface="Arial" pitchFamily="34" charset="0"/>
                          <a:cs typeface="Arial" pitchFamily="34" charset="0"/>
                        </a:rPr>
                        <a:t>Gemini CLI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Terminal · agentic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Free / open-source terminal agent; very large context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no-cost, inspectable option, or a huge context window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Quality varies by task; newer ecosystem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0F2247"/>
                          </a:solidFill>
                          <a:latin typeface="Arial" pitchFamily="34" charset="0"/>
                          <a:cs typeface="Arial" pitchFamily="34" charset="0"/>
                        </a:rPr>
                        <a:t>Replit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Cloud · prototyping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Idea → deployed app in the browser, zero local setup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Something running &amp; shareable fast, or a locked-down machine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Prototype-grade by default; harden before production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0F2247"/>
                          </a:solidFill>
                          <a:latin typeface="Arial" pitchFamily="34" charset="0"/>
                          <a:cs typeface="Arial" pitchFamily="34" charset="0"/>
                        </a:rPr>
                        <a:t>V0 (Vercel)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Cloud · prototyping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Design-to-code UI (React / Next / Tailwind); now production-capable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polished UI or component fast; a non-engineer ships a UI change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UI-focused &amp; conversational — not a full IDE agent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task to the tool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00" name="Matrix Table"/>
          <p:cNvGraphicFramePr>
            <a:graphicFrameLocks noGrp="1"/>
          </p:cNvGraphicFramePr>
          <p:nvPr/>
        </p:nvGraphicFramePr>
        <p:xfrm>
          <a:off x="502920" y="1607000"/>
          <a:ext cx="11183112" cy="4112000"/>
        </p:xfrm>
        <a:graphic>
          <a:graphicData uri="http://schemas.openxmlformats.org/drawingml/2006/table">
            <a:tbl>
              <a:tblPr firstRow="1" bandRow="1"/>
              <a:tblGrid>
                <a:gridCol w="5000000"/>
                <a:gridCol w="6183112"/>
              </a:tblGrid>
              <a:tr h="352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If your task is…</a:t>
                      </a:r>
                    </a:p>
                  </a:txBody>
                  <a:tcPr marL="82296" marR="82296" marT="36576" marB="36576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Lean toward</a:t>
                      </a:r>
                    </a:p>
                  </a:txBody>
                  <a:tcPr marL="82296" marR="82296" marT="36576" marB="36576" anchor="ctr">
                    <a:solidFill>
                      <a:srgbClr val="0F2247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Prototype / demo — speed to something clickable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V0 · Replit · Cursor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Production — real repo, tests, review, maintainability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Claude Code · Cursor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Solo — one person, fast iteration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Cursor · Replit · V0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Team — shared specs, review, traceability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Claude Code (+ Codex for CI tasks)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UI-first — screens, components, layout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V0 · Replit · Cursor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Backend / full-stack — APIs, data, services, pipelines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Claude Code · Cursor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Open / cost-sensitive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Gemini CLI (open-source, free tier)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Regulated / auditable — guardrails, approval trail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Claude Code · Cursor</a:t>
                      </a:r>
                    </a:p>
                  </a:txBody>
                  <a:tcPr marL="82296" marR="82296" marT="36576" marB="36576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open standard underneath it all: MCP.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Cursor, Codex and Gemini all speak it — build a connector or skill once, and it travels across tools.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340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Build0_Lab_Guide.md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Build #0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Follow during the lab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lab-kit/index.html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starter page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Open this in Claude Code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Prompt_Pattern_Cards.md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five prompting patterns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while prompting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Tool_Decision_Matrix.md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Which tool for which job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Take-home reference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