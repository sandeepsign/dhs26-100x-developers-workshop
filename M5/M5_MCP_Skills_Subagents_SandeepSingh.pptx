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65" r:id="rId12"/>
    <p:sldId id="259" r:id="rId6"/>
    <p:sldId id="262" r:id="rId9"/>
    <p:sldId id="258" r:id="rId5"/>
    <p:sldId id="269" r:id="rId20"/>
    <p:sldId id="270" r:id="rId21"/>
    <p:sldId id="275" r:id="rId26"/>
    <p:sldId id="272" r:id="rId23"/>
    <p:sldId id="267" r:id="rId3"/>
    <p:sldId id="271" r:id="rId22"/>
    <p:sldId id="273" r:id="rId24"/>
    <p:sldId id="27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60" Type="http://schemas.openxmlformats.org/officeDocument/2006/relationships/image" Target="../media/img_m5_brief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60" Type="http://schemas.openxmlformats.org/officeDocument/2006/relationships/image" Target="../media/img_m5_mcp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60" Type="http://schemas.openxmlformats.org/officeDocument/2006/relationships/image" Target="../media/img_m5_skill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60" Type="http://schemas.openxmlformats.org/officeDocument/2006/relationships/image" Target="../media/img_m5_sub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60" Type="http://schemas.openxmlformats.org/officeDocument/2006/relationships/image" Target="../media/img_m5_runit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#4 — MCP, a Skill &amp; sub-agents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6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30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Three parts: connect, encode, delegate — on your TaskFlow repo.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Wire the GitHub MCP; create an issue from chat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Build a Skill: your PR &amp; commit conventions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Create a code-reviewer + a fixer sub-agent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Run reviewer → fixer on the TaskFlow repo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Build4_Lab_Guide.md   ·   pr-conventions_SKILL.md   ·   code-reviewer.md  ·  fixer.md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 ·  1:45–2:40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MCP, Skills &amp; Sub-Agents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extensibility layer: give the agent your tools (MCP), your rules (Skills), and your specialists (Sub-Agents).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enterprise systems — safely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wiring reaches GitHub, Jira and Jenkins — power that needs guardrails.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Jira · Jenkins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PRs, tickets and builds — one agent, many systems, one standard.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scopes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tokens, scoped to the repos and projects the agent truly needs.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hygiene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tokens in env vars, never in prompts or committed files; rotate them.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server risk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can see everything you connect — prefer official/vetted ones, read the tools.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one MCP standard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— scope every token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the open standard for AI + your systems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6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is a USB-C port for AI: one standard to plug in any tool.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(Claude Code) talks to servers (GitHub, Jira, Jenkins…) that expose tools and resources. Stop pasting data in — the agent reads and acts on the system directly.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Claude Code (Cursor, Codex, Gemini too)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Servers: GitHub, Jira, Jenkins, databases…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resources: what the agent can do &amp; read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once — the same servers work across tools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MCP servers into Claude Code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086600" cy="4160520"/>
          </a:xfrm>
          <a:prstGeom prst="roundRect">
            <a:avLst>
              <a:gd name="adj" fmla="val 1758"/>
            </a:avLst>
          </a:prstGeom>
          <a:solidFill>
            <a:srgbClr val="0C1830"/>
          </a:solidFill>
          <a:ln w="12700">
            <a:solidFill>
              <a:srgbClr val="20305A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" y="182880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connect-mcp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65836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add servers in Claude Code, then /mcp to auth
</a:t>
            </a:r>
            <a:r>
              <a:rPr lang="en-US" sz="10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GitHub — remote, PAT header
</a:t>
            </a:r>
            <a:r>
              <a:rPr lang="en-US" sz="10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claude mcp add</a:t>
            </a:r>
            <a:r>
              <a:rPr lang="en-US" sz="10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--transport http github \
</a:t>
            </a:r>
            <a:r>
              <a:rPr lang="en-US" sz="10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https://api.githubcopilot.com/mcp/ \
</a:t>
            </a:r>
            <a:r>
              <a:rPr lang="en-US" sz="10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--header </a:t>
            </a:r>
            <a:r>
              <a:rPr lang="en-US" sz="1050">
                <a:solidFill>
                  <a:srgbClr val="9DEC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"Authorization: Bearer $PAT"
</a:t>
            </a:r>
            <a:r>
              <a:rPr lang="en-US" sz="10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Jira/Confluence — Atlassian remote (OAuth)
</a:t>
            </a:r>
            <a:r>
              <a:rPr lang="en-US" sz="1050">
                <a:solidFill>
                  <a:srgbClr val="FF7E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claude mcp add</a:t>
            </a:r>
            <a:r>
              <a:rPr lang="en-US" sz="10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--transport http atlassian \
</a:t>
            </a:r>
            <a:r>
              <a:rPr lang="en-US" sz="1050">
                <a:solidFill>
                  <a:srgbClr val="D6E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https://mcp.atlassian.com/v1/mcp
</a:t>
            </a:r>
            <a:r>
              <a:rPr lang="en-US" sz="1050">
                <a:solidFill>
                  <a:srgbClr val="7E8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 then, from chat:
</a:t>
            </a:r>
            <a:r>
              <a:rPr lang="en-US" sz="1050">
                <a:solidFill>
                  <a:srgbClr val="5C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"create a GitHub issue: fix the date filter"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8001000" y="1645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613648" y="16459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700"/>
          </a:p>
        </p:txBody>
      </p:sp>
      <p:sp>
        <p:nvSpPr>
          <p:cNvPr id="14" name="Shape 11"/>
          <p:cNvSpPr/>
          <p:nvPr/>
        </p:nvSpPr>
        <p:spPr>
          <a:xfrm>
            <a:off x="8028432" y="252374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41401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lists servers &amp; does OAuth login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8028432" y="325526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5320" y="31455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--scope project writes a shared .mcp.json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>
          <a:xfrm>
            <a:off x="8028432" y="398678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87705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show as mcp__github__… , mcp__jira__…</a:t>
            </a:r>
            <a:endParaRPr lang="en-US" sz="1300"/>
          </a:p>
        </p:txBody>
      </p:sp>
      <p:sp>
        <p:nvSpPr>
          <p:cNvPr id="20" name="Shape 17"/>
          <p:cNvSpPr/>
          <p:nvPr/>
        </p:nvSpPr>
        <p:spPr>
          <a:xfrm>
            <a:off x="8028432" y="4718304"/>
            <a:ext cx="109728" cy="109728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5320" y="46085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Jenkins: a community server (verify first)</a:t>
            </a:r>
            <a:endParaRPr lang="en-US" sz="1300"/>
          </a:p>
        </p:txBody>
      </p:sp>
      <p:sp>
        <p:nvSpPr>
          <p:cNvPr id="23" name="Text 19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2" name="Picture 21" descr="preencoded.png">
            <a:extLst>
              <a:ext uri="{FF2B5EF4-FFF2-40B4-BE49-F238E27FC236}">
                <a16:creationId xmlns:a16="http://schemas.microsoft.com/office/drawing/2014/main" id="{26371A44-7EBD-9EF7-C500-A871D2862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Connect. Encode. Delegate.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gives the agent your tools, Skills give it your rules, sub-agents give it specialists — the operating layer, in your hands.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extend the agent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— wire in your tools and systems (GitHub, Jira, Jenkins).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— teach it your standards, templates and procedures.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— hand tasks to specialists with their own tools.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— stay on strategy while they do the work.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standard, your knowledge, your specialists — the operating layer from this morning, made real.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— encode your organization’s knowledge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6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the agent your standards once; it follows them everywhere.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model-invoked automatically when their description matches. Drop them in .claude/skills/ (project) or ~/.claude/skills/ (personal).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Frontmatter: name + description (this triggers it)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your rules, templates and examples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our PR &amp; commit conventions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— specialists you delegate to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6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workers with their own instructions, tools and context.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runs in its own context and returns a summary. Claude auto-delegates by the description. Limit their tools to keep them safe and focused.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.claude/agents/&lt;name&gt;.md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Frontmatter: name, description, tools, model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tools = safer, cheaper, sharper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 reviewer → fixer workflow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extended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6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agent — now with your tools, your rules and your specialists.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opened a real GitHub issue from chat, made the agent follow your PR conventions, and had a reviewer and fixer work the TaskFlow repo — all without leaving Claude Code.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issue, created from a sentence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your whole team can share (.mcp / repo)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sub-agent with a real checklist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fixer that turns findings into changes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56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Build4_Lab_Guide.md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#4 (3 parts)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pr-conventions_SKILL.md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Skill template to drop in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Your PR &amp; commit Skill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code-reviewer.md / fixer.md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The two sub-agent definitions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③ Copy into .claude/agents/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MCP_Security_Card.md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Scopes, secrets, third-party risk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Read before wiring tokens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MCP_Skills_Subagents_Cheatsheet.md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All the commands &amp; file formats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throughout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the operating layer, in your hands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“operating layer” from the Welcome — no longer a slide, but your setup.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standard, many systems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connected GitHub, Jira and Jenkins through the same wiring.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rules, encoded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makes every session follow your conventions — governance that scales.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on tap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did focused work in their own context and reported back.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travels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MCP servers work in Cursor, Codex and Gemini. Next: bug triage → fix → CI.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tools, rules, specialists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— portable across tools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Skills · Sub-agents — the cheatsheet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20" name="Cheat"/>
          <p:cNvGraphicFramePr>
            <a:graphicFrameLocks noGrp="1"/>
          </p:cNvGraphicFramePr>
          <p:nvPr/>
        </p:nvGraphicFramePr>
        <p:xfrm>
          <a:off x="502920" y="1600000"/>
          <a:ext cx="11183112" cy="3960000"/>
        </p:xfrm>
        <a:graphic>
          <a:graphicData uri="http://schemas.openxmlformats.org/drawingml/2006/table">
            <a:tbl>
              <a:tblPr firstRow="1" bandRow="1"/>
              <a:tblGrid>
                <a:gridCol w="1900000"/>
                <a:gridCol w="4641556"/>
                <a:gridCol w="4641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/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How you add it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MCP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Connect the agent to a tool/system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claude mcp add --transport http &lt;name&gt; &lt;url&gt;  ·  /mcp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Skill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Encode your rules, model-invoked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.claude/skills/&lt;name&gt;/SKILL.md  (name + description)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Sub-agent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specialist in its own context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.claude/agents/&lt;name&gt;.md  (name, description, tools, model)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Invoke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How each one fires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Just ask — all three are triggered by description/intent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Portable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Works beyond Claude Code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Same MCP servers work in Cursor · Codex · Gemini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#4 pipeline — extend TaskFlow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MCP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(then Jira, Jenkins) to Claude Code.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issue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chat: open a GitHub issue on your TaskFlow repo.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Skill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PR &amp; commit conventions as a Skill.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sub-agents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flags issues; fixer proposes the changes.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rules and specialists — your TaskFlow repo is now enterprise-grade.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