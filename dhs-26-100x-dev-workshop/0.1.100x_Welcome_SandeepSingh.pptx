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4"/>
    <p:sldId id="263" r:id="rId10"/>
    <p:sldId id="258" r:id="rId5"/>
    <p:sldId id="265" r:id="rId12"/>
    <p:sldId id="259" r:id="rId6"/>
    <p:sldId id="264" r:id="rId11"/>
    <p:sldId id="260" r:id="rId7"/>
    <p:sldId id="267" r:id="rId3"/>
    <p:sldId id="269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E18EB-DB6B-514F-93D1-5A5737CD465D}" v="4" dt="2026-06-08T05:51:32.996"/>
    <p1510:client id="{9D2630A3-01F1-B3A4-3C1C-E3C4B9D4185A}" v="19" dt="2026-06-08T07:58:43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14" Type="http://schemas.openxmlformats.org/officeDocument/2006/relationships/notesMaster" Target="notesMasters/notesMaster1.xml"/>  <Relationship Id="rId20" Type="http://schemas.openxmlformats.org/officeDocument/2006/relationships/slide" Target="slides/slide12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7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F2247"/>
                </a:solidFill>
                <a:latin typeface="Calibri"/>
              </a:defRPr>
            </a:pPr>
            <a:r>
              <a:rPr lang="en-US" sz="1300" b="1" i="0" u="none" strike="noStrike">
                <a:solidFill>
                  <a:srgbClr val="0F2247"/>
                </a:solidFill>
                <a:latin typeface="Calibri"/>
              </a:rPr>
              <a:t>Developers using AI coding tools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</c:v>
                </c:pt>
              </c:strCache>
            </c:strRef>
          </c:tx>
          <c:spPr>
            <a:solidFill>
              <a:srgbClr val="2D7FF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224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61</c:v>
                </c:pt>
                <c:pt idx="2">
                  <c:v>76</c:v>
                </c:pt>
                <c:pt idx="3">
                  <c:v>84</c:v>
                </c:pt>
                <c:pt idx="4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C5-47C2-992F-EB5BC27003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3A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8CC80-46D1-4B6F-9086-510E80774687}" type="datetimeFigureOut"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F48A4-F1E9-490D-8E72-314064DE6C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17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122C-8C54-E0A0-655E-CE297F1C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8240F-C18D-AB6B-AD34-BAB40E252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70255-59C9-7E5C-C4C7-A3CD03049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6CB5A-7F73-B2EE-324C-8D28DE12D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29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20" Type="http://schemas.openxmlformats.org/officeDocument/2006/relationships/image" Target="../media/img_wc_qr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20" Type="http://schemas.openxmlformats.org/officeDocument/2006/relationships/image" Target="../media/img_wc_oplayer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20" Type="http://schemas.openxmlformats.org/officeDocument/2006/relationships/image" Target="../media/img_wc_arrive.png"/><Relationship Id="rId21" Type="http://schemas.openxmlformats.org/officeDocument/2006/relationships/image" Target="../media/img_wc_leave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502920" y="1874520"/>
            <a:ext cx="1965960" cy="420624"/>
          </a:xfrm>
          <a:prstGeom prst="roundRect">
            <a:avLst>
              <a:gd name="adj" fmla="val 50000"/>
            </a:avLst>
          </a:prstGeom>
          <a:solidFill>
            <a:srgbClr val="1A1330"/>
          </a:solidFill>
          <a:ln w="15875">
            <a:solidFill>
              <a:srgbClr val="6677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502920" y="18745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>
                <a:solidFill>
                  <a:srgbClr val="66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150"/>
          </a:p>
        </p:txBody>
      </p:sp>
      <p:sp>
        <p:nvSpPr>
          <p:cNvPr id="6" name="Text 2"/>
          <p:cNvSpPr/>
          <p:nvPr/>
        </p:nvSpPr>
        <p:spPr>
          <a:xfrm>
            <a:off x="502920" y="260604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kern="0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100x Enterprise Software Development Age</a:t>
            </a:r>
            <a:endParaRPr lang="en-US" sz="3800"/>
          </a:p>
        </p:txBody>
      </p:sp>
      <p:sp>
        <p:nvSpPr>
          <p:cNvPr id="7" name="Text 3"/>
          <p:cNvSpPr/>
          <p:nvPr/>
        </p:nvSpPr>
        <p:spPr>
          <a:xfrm>
            <a:off x="512064" y="41605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Software Development Masterclass</a:t>
            </a:r>
            <a:endParaRPr lang="en-US" sz="1600"/>
          </a:p>
        </p:txBody>
      </p:sp>
      <p:sp>
        <p:nvSpPr>
          <p:cNvPr id="8" name="Text 4"/>
          <p:cNvSpPr/>
          <p:nvPr/>
        </p:nvSpPr>
        <p:spPr>
          <a:xfrm>
            <a:off x="512064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</a:t>
            </a:r>
            <a:endParaRPr lang="en-US" sz="1200"/>
          </a:p>
        </p:txBody>
      </p:sp>
      <p:sp>
        <p:nvSpPr>
          <p:cNvPr id="9" name="Shape 5"/>
          <p:cNvSpPr/>
          <p:nvPr/>
        </p:nvSpPr>
        <p:spPr>
          <a:xfrm>
            <a:off x="512064" y="5047488"/>
            <a:ext cx="1280160" cy="4114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02920" y="517550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Sandeep Singh</a:t>
            </a:r>
            <a:endParaRPr lang="en-US" sz="2300"/>
          </a:p>
        </p:txBody>
      </p:sp>
      <p:sp>
        <p:nvSpPr>
          <p:cNvPr id="11" name="Text 7"/>
          <p:cNvSpPr/>
          <p:nvPr/>
        </p:nvSpPr>
        <p:spPr>
          <a:xfrm>
            <a:off x="512064" y="5687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AEB6CF"/>
                </a:solidFill>
                <a:latin typeface="Calibri"/>
                <a:ea typeface="Calibri"/>
                <a:cs typeface="Calibri"/>
              </a:rPr>
              <a:t>Expert Senior Director  ·  Bain &amp; Company</a:t>
            </a:r>
            <a:endParaRPr lang="en-US" sz="1400">
              <a:solidFill>
                <a:srgbClr val="AEB6CF"/>
              </a:solidFill>
              <a:ea typeface="Calibri"/>
              <a:cs typeface="Calibri"/>
            </a:endParaRPr>
          </a:p>
        </p:txBody>
      </p:sp>
      <p:sp>
        <p:nvSpPr>
          <p:cNvPr id="21" name="Text Footer Date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22" name="Text Footer HxAI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r>
              <a:rPr lang="en-US" sz="1300">
                <a:solidFill>
                  <a:srgbClr val="9A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</a:t>
            </a:r>
            <a:r>
              <a:rPr lang="en-US" sz="13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00"/>
          </a:p>
        </p:txBody>
      </p:sp>
      <p:pic>
        <p:nvPicPr>
          <p:cNvPr id="14" name="Picture 13" descr="preencoded.png">
            <a:extLst>
              <a:ext uri="{FF2B5EF4-FFF2-40B4-BE49-F238E27FC236}">
                <a16:creationId xmlns:a16="http://schemas.microsoft.com/office/drawing/2014/main" id="{B8DF4AD5-0739-02A6-00EF-6EB115F129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6820429" y="809097"/>
            <a:ext cx="5112808" cy="5068578"/>
          </a:xfrm>
          <a:prstGeom prst="rect">
            <a:avLst/>
          </a:prstGeom>
        </p:spPr>
      </p:pic>
      <p:pic>
        <p:nvPicPr>
          <p:cNvPr id="16" name="Picture 15" descr="A black and white logo  AI-generated content may be incorrect.">
            <a:extLst>
              <a:ext uri="{FF2B5EF4-FFF2-40B4-BE49-F238E27FC236}">
                <a16:creationId xmlns:a16="http://schemas.microsoft.com/office/drawing/2014/main" id="{1B29DB45-34B1-B5D2-4B4E-6C4F784E19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98" y="272006"/>
            <a:ext cx="3196169" cy="57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15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2114E-12E7-7155-A7DA-AF2F85C2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D93CDB-E710-9960-24B3-594FE67B39A6}"/>
              </a:ext>
            </a:extLst>
          </p:cNvPr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8D09E8-44B5-4A76-68D7-49214D94ECDB}"/>
              </a:ext>
            </a:extLst>
          </p:cNvPr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>
                <a:solidFill>
                  <a:srgbClr val="0F2247"/>
                </a:solidFill>
                <a:latin typeface="Arial"/>
                <a:ea typeface="+mn-lt"/>
                <a:cs typeface="Arial"/>
              </a:rPr>
              <a:t>ENVIRONMENT CHECK</a:t>
            </a:r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83AC64-37FB-2B7C-A60C-21E2E72B1776}"/>
              </a:ext>
            </a:extLst>
          </p:cNvPr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5743F8-68ED-A2CC-2534-EA4AE27A90B6}"/>
              </a:ext>
            </a:extLst>
          </p:cNvPr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2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A869DD1-E5F6-ADC3-29AC-6F3C62827CEF}"/>
              </a:ext>
            </a:extLst>
          </p:cNvPr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6AE37FD4-7FC0-7C24-5804-7D90B078A7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0CCE9079-A86A-9372-9ADB-DBAC133F295C}"/>
              </a:ext>
            </a:extLst>
          </p:cNvPr>
          <p:cNvSpPr/>
          <p:nvPr/>
        </p:nvSpPr>
        <p:spPr>
          <a:xfrm>
            <a:off x="6340041" y="1836421"/>
            <a:ext cx="5463941" cy="71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F2247"/>
                </a:solidFill>
                <a:ea typeface="+mn-lt"/>
                <a:cs typeface="+mn-lt"/>
              </a:rPr>
              <a:t>Two checks, then the repo</a:t>
            </a:r>
            <a:endParaRPr lang="en-US" sz="2800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BB24D4E-0E8A-852A-A0B3-CB3356346CC3}"/>
              </a:ext>
            </a:extLst>
          </p:cNvPr>
          <p:cNvSpPr/>
          <p:nvPr/>
        </p:nvSpPr>
        <p:spPr>
          <a:xfrm>
            <a:off x="6340041" y="2280426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3A4866"/>
                </a:solidFill>
                <a:ea typeface="+mn-lt"/>
                <a:cs typeface="+mn-lt"/>
              </a:rPr>
              <a:t>Verify each item — TAs are circulating to help</a:t>
            </a:r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25E1FFEA-9D5E-B31D-32EF-5A2E5C2B01FF}"/>
              </a:ext>
            </a:extLst>
          </p:cNvPr>
          <p:cNvSpPr/>
          <p:nvPr/>
        </p:nvSpPr>
        <p:spPr>
          <a:xfrm>
            <a:off x="6720840" y="3193101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Claude Code — logged in with your Pro account</a:t>
            </a:r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22BD7E4D-8C74-0052-19C3-0AC687508A15}"/>
              </a:ext>
            </a:extLst>
          </p:cNvPr>
          <p:cNvSpPr/>
          <p:nvPr/>
        </p:nvSpPr>
        <p:spPr>
          <a:xfrm>
            <a:off x="6720840" y="3705165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Node 18+ · Git · VS Code installed</a:t>
            </a:r>
            <a:endParaRPr 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62E7F96-C16C-A479-AD18-DAB3BDC59B26}"/>
              </a:ext>
            </a:extLst>
          </p:cNvPr>
          <p:cNvSpPr/>
          <p:nvPr/>
        </p:nvSpPr>
        <p:spPr>
          <a:xfrm>
            <a:off x="6720840" y="4217229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GitHub + free Cursor / Replit / V0 / Gemini logins</a:t>
            </a:r>
            <a:endParaRPr lang="en-US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EC4C5B2-15C8-9830-BEB9-D30AA8642A4F}"/>
              </a:ext>
            </a:extLst>
          </p:cNvPr>
          <p:cNvSpPr/>
          <p:nvPr/>
        </p:nvSpPr>
        <p:spPr>
          <a:xfrm>
            <a:off x="6720840" y="4729293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Smoke test: run a one-line prompt in Claude Code</a:t>
            </a:r>
            <a:endParaRPr lang="en-US"/>
          </a:p>
        </p:txBody>
      </p:sp>
      <p:pic>
        <p:nvPicPr>
          <p:cNvPr id="24" name="Image 2" descr="/home/claude/dhs/assets2/icons/check.png">
            <a:extLst>
              <a:ext uri="{FF2B5EF4-FFF2-40B4-BE49-F238E27FC236}">
                <a16:creationId xmlns:a16="http://schemas.microsoft.com/office/drawing/2014/main" id="{A736BCF1-B1BD-F919-4CF5-70C524BCE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293805"/>
            <a:ext cx="256032" cy="256032"/>
          </a:xfrm>
          <a:prstGeom prst="rect">
            <a:avLst/>
          </a:prstGeom>
        </p:spPr>
      </p:pic>
      <p:pic>
        <p:nvPicPr>
          <p:cNvPr id="26" name="Image 3" descr="/home/claude/dhs/assets2/icons/check.png">
            <a:extLst>
              <a:ext uri="{FF2B5EF4-FFF2-40B4-BE49-F238E27FC236}">
                <a16:creationId xmlns:a16="http://schemas.microsoft.com/office/drawing/2014/main" id="{0FB1345D-BE3E-1A48-2B3E-C7C266556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05869"/>
            <a:ext cx="256032" cy="256032"/>
          </a:xfrm>
          <a:prstGeom prst="rect">
            <a:avLst/>
          </a:prstGeom>
        </p:spPr>
      </p:pic>
      <p:pic>
        <p:nvPicPr>
          <p:cNvPr id="28" name="Image 4" descr="/home/claude/dhs/assets2/icons/check.png">
            <a:extLst>
              <a:ext uri="{FF2B5EF4-FFF2-40B4-BE49-F238E27FC236}">
                <a16:creationId xmlns:a16="http://schemas.microsoft.com/office/drawing/2014/main" id="{D6DAF8CF-3713-EC4A-31C6-7AA871186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17933"/>
            <a:ext cx="256032" cy="256032"/>
          </a:xfrm>
          <a:prstGeom prst="rect">
            <a:avLst/>
          </a:prstGeom>
        </p:spPr>
      </p:pic>
      <p:pic>
        <p:nvPicPr>
          <p:cNvPr id="34" name="Image 4" descr="/home/claude/dhs/assets2/icons/check.png">
            <a:extLst>
              <a:ext uri="{FF2B5EF4-FFF2-40B4-BE49-F238E27FC236}">
                <a16:creationId xmlns:a16="http://schemas.microsoft.com/office/drawing/2014/main" id="{829EED07-4649-C3DE-548A-814E2E52F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794184"/>
            <a:ext cx="256032" cy="256032"/>
          </a:xfrm>
          <a:prstGeom prst="rect">
            <a:avLst/>
          </a:prstGeom>
        </p:spPr>
      </p:pic>
      <p:sp>
        <p:nvSpPr>
          <p:cNvPr id="91" name="FileCallout"/>
          <p:cNvSpPr/>
          <p:nvPr/>
        </p:nvSpPr>
        <p:spPr>
          <a:xfrm>
            <a:off x="502920" y="6040000"/>
            <a:ext cx="1118311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E7202"/>
                </a:solidFill>
                <a:latin typeface="Arial" pitchFamily="34" charset="0"/>
              </a:rPr>
              <a:t xml:space="preserve">Your files:  </a:t>
            </a:r>
            <a:r>
              <a:rPr lang="en-US" sz="1050">
                <a:solidFill>
                  <a:srgbClr val="16264A"/>
                </a:solidFill>
                <a:latin typeface="Consolas" pitchFamily="34" charset="0"/>
                <a:cs typeface="Consolas" pitchFamily="34" charset="0"/>
              </a:rPr>
              <a:t>Pre-Flight_Environment_Guide.md    ·    Environment_Checklist_Card.md</a:t>
            </a:r>
          </a:p>
        </p:txBody>
      </p:sp>
    </p:spTree>
    <p:extLst>
      <p:ext uri="{BB962C8B-B14F-4D97-AF65-F5344CB8AC3E}">
        <p14:creationId xmlns:p14="http://schemas.microsoft.com/office/powerpoint/2010/main" val="279516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0400"/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130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writing code to directing agents.</a:t>
            </a:r>
            <a:endParaRPr lang="en-US" sz="4200"/>
          </a:p>
        </p:txBody>
      </p:sp>
      <p:sp>
        <p:nvSpPr>
          <p:cNvPr id="6" name="Text 3"/>
          <p:cNvSpPr/>
          <p:nvPr/>
        </p:nvSpPr>
        <p:spPr>
          <a:xfrm>
            <a:off x="512064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faster typing — a shift in who can build, how much of the lifecycle one person owns, and how fast each step runs. The data now backs it.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450612" y="653384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3886F0"/>
                </a:solidFill>
                <a:latin typeface="Arial"/>
                <a:ea typeface="+mn-lt"/>
                <a:cs typeface="Arial"/>
              </a:rPr>
              <a:t>Human</a:t>
            </a:r>
            <a:r>
              <a:rPr lang="en-US" sz="1300">
                <a:solidFill>
                  <a:srgbClr val="777799"/>
                </a:solidFill>
                <a:latin typeface="Arial"/>
                <a:ea typeface="+mn-lt"/>
                <a:cs typeface="Arial"/>
              </a:rPr>
              <a:t> × </a:t>
            </a:r>
            <a:r>
              <a:rPr lang="en-US" sz="1300" b="1">
                <a:solidFill>
                  <a:srgbClr val="17B4AC"/>
                </a:solidFill>
                <a:latin typeface="Arial"/>
                <a:ea typeface="+mn-lt"/>
                <a:cs typeface="Arial"/>
              </a:rPr>
              <a:t>AI</a:t>
            </a:r>
            <a:endParaRPr lang="en-US" sz="1300">
              <a:solidFill>
                <a:srgbClr val="17B4AC"/>
              </a:solidFill>
              <a:latin typeface="Arial"/>
              <a:ea typeface="+mn-lt"/>
              <a:cs typeface="Arial"/>
            </a:endParaRPr>
          </a:p>
          <a:p>
            <a:pPr algn="r"/>
            <a:endParaRPr lang="en-US" sz="13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B0152DA7-943D-E4FD-C21F-6FED3C2829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6704013" y="481013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gains are measured, not hyped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studies and enterprise RCTs — not vendor slideware.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shorter PR cycle time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 days to 2.4 days in a controlled enterprise study (Accenture RCT).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hours saved per developer, weekly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users save 4.1 hours and open 60% more pull requests (DX, 2025).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hours saved at TELUS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40 minutes back on every AI interaction, across the whole org.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hours of autonomous work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completed a complex implementation end-to-end at Rakuten.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wks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4–8 month project, delivered (Augment Code)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task completion, controlled study (GitHub, n=95)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 — and why it is the whole point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2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a commodity. The leverage is the operating layer.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of AI-generated code carries a vulnerability. Developer trust has fallen to 29%. Only 0–20% of tasks are safely auto-delegated today.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specs turn ambiguity into a contract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MCP, Skills &amp; Sub-Agents wire in your org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guardrails gate what ships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stay on the approval path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walk out with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349240" cy="3703320"/>
          </a:xfrm>
          <a:prstGeom prst="roundRect">
            <a:avLst>
              <a:gd name="adj" fmla="val 1975"/>
            </a:avLst>
          </a:prstGeom>
          <a:blipFill>
            <a:blip r:embed="rId2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336792" y="1645920"/>
            <a:ext cx="5349240" cy="3703320"/>
          </a:xfrm>
          <a:prstGeom prst="roundRect">
            <a:avLst>
              <a:gd name="adj" fmla="val 1975"/>
            </a:avLst>
          </a:prstGeom>
          <a:blipFill>
            <a:blip r:embed="rId2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" y="5413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arrive with an idea and a laptop.</a:t>
            </a:r>
            <a:endParaRPr lang="en-US" sz="1200"/>
          </a:p>
        </p:txBody>
      </p:sp>
      <p:sp>
        <p:nvSpPr>
          <p:cNvPr id="12" name="Text 8"/>
          <p:cNvSpPr/>
          <p:nvPr/>
        </p:nvSpPr>
        <p:spPr>
          <a:xfrm>
            <a:off x="6336792" y="5413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apps · full doc suite · live CI/CD pipeline</a:t>
            </a:r>
            <a:endParaRPr lang="en-US" sz="1200"/>
          </a:p>
        </p:txBody>
      </p:sp>
      <p:sp>
        <p:nvSpPr>
          <p:cNvPr id="13" name="Shape 9"/>
          <p:cNvSpPr/>
          <p:nvPr/>
        </p:nvSpPr>
        <p:spPr>
          <a:xfrm>
            <a:off x="5733288" y="3063240"/>
            <a:ext cx="731520" cy="731520"/>
          </a:xfrm>
          <a:prstGeom prst="ellipse">
            <a:avLst/>
          </a:prstGeom>
          <a:solidFill>
            <a:srgbClr val="1FB6A6"/>
          </a:solidFill>
          <a:ln w="25400">
            <a:solidFill>
              <a:srgbClr val="FFFFFF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73328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/>
          </a:p>
        </p:txBody>
      </p:sp>
      <p:sp>
        <p:nvSpPr>
          <p:cNvPr id="16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17" name="Picture 16" descr="preencoded.png">
            <a:extLst>
              <a:ext uri="{FF2B5EF4-FFF2-40B4-BE49-F238E27FC236}">
                <a16:creationId xmlns:a16="http://schemas.microsoft.com/office/drawing/2014/main" id="{50E5CEBA-6CE2-2466-1824-D27F20904D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the default — not the frontier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9164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69164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46720" y="20756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615" y="2198583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32520" y="183794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000"/>
          </a:p>
        </p:txBody>
      </p:sp>
      <p:sp>
        <p:nvSpPr>
          <p:cNvPr id="10" name="Text 6"/>
          <p:cNvSpPr/>
          <p:nvPr/>
        </p:nvSpPr>
        <p:spPr>
          <a:xfrm>
            <a:off x="8732520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Fortune 100 use GitHub Copilot</a:t>
            </a:r>
            <a:endParaRPr lang="en-US" sz="1150"/>
          </a:p>
        </p:txBody>
      </p:sp>
      <p:sp>
        <p:nvSpPr>
          <p:cNvPr id="11" name="Shape 7"/>
          <p:cNvSpPr/>
          <p:nvPr/>
        </p:nvSpPr>
        <p:spPr>
          <a:xfrm>
            <a:off x="7818120" y="310896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8046720" y="349300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hs/assets2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9615" y="3615903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32520" y="325526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3000"/>
          </a:p>
        </p:txBody>
      </p:sp>
      <p:sp>
        <p:nvSpPr>
          <p:cNvPr id="15" name="Text 10"/>
          <p:cNvSpPr/>
          <p:nvPr/>
        </p:nvSpPr>
        <p:spPr>
          <a:xfrm>
            <a:off x="873252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 firms are Claude customers</a:t>
            </a:r>
            <a:endParaRPr lang="en-US" sz="1150"/>
          </a:p>
        </p:txBody>
      </p:sp>
      <p:sp>
        <p:nvSpPr>
          <p:cNvPr id="16" name="Shape 11"/>
          <p:cNvSpPr/>
          <p:nvPr/>
        </p:nvSpPr>
        <p:spPr>
          <a:xfrm>
            <a:off x="7818120" y="452628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046720" y="491032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hs/assets2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615" y="5033223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32520" y="467258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3000"/>
          </a:p>
        </p:txBody>
      </p:sp>
      <p:sp>
        <p:nvSpPr>
          <p:cNvPr id="20" name="Text 14"/>
          <p:cNvSpPr/>
          <p:nvPr/>
        </p:nvSpPr>
        <p:spPr>
          <a:xfrm>
            <a:off x="8732520" y="5257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now use AI tools every day</a:t>
            </a:r>
            <a:endParaRPr lang="en-US" sz="1150"/>
          </a:p>
        </p:txBody>
      </p:sp>
      <p:sp>
        <p:nvSpPr>
          <p:cNvPr id="22" name="Text 15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8DE1F829-C699-134C-5725-E611D61CB40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>
                <a:solidFill>
                  <a:srgbClr val="2D7F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/>
          </a:p>
        </p:txBody>
      </p:sp>
      <p:sp>
        <p:nvSpPr>
          <p:cNvPr id="4" name="Text 1"/>
          <p:cNvSpPr/>
          <p:nvPr/>
        </p:nvSpPr>
        <p:spPr>
          <a:xfrm>
            <a:off x="868680" y="2286000"/>
            <a:ext cx="7040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was never the product. The operating layer around it is.</a:t>
            </a:r>
            <a:endParaRPr lang="en-US" sz="3400"/>
          </a:p>
        </p:txBody>
      </p:sp>
      <p:sp>
        <p:nvSpPr>
          <p:cNvPr id="5" name="Shape 2"/>
          <p:cNvSpPr/>
          <p:nvPr/>
        </p:nvSpPr>
        <p:spPr>
          <a:xfrm>
            <a:off x="914400" y="4800600"/>
            <a:ext cx="457200" cy="4572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4937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operating layer is what the next seven hours teach.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2D7FF9"/>
                </a:solidFill>
                <a:latin typeface="Arial"/>
                <a:ea typeface="Arial" pitchFamily="34" charset="-122"/>
                <a:cs typeface="Arial"/>
              </a:rPr>
              <a:t>Human</a:t>
            </a:r>
            <a:r>
              <a:rPr lang="en-US" sz="1300">
                <a:solidFill>
                  <a:srgbClr val="9AA4C0"/>
                </a:solidFill>
                <a:latin typeface="Arial"/>
                <a:ea typeface="Arial" pitchFamily="34" charset="-122"/>
                <a:cs typeface="Arial"/>
              </a:rPr>
              <a:t> ×</a:t>
            </a:r>
            <a:r>
              <a:rPr lang="en-US" sz="1300" b="1">
                <a:solidFill>
                  <a:srgbClr val="1FB6A6"/>
                </a:solidFill>
                <a:latin typeface="Arial"/>
                <a:ea typeface="Arial" pitchFamily="34" charset="-122"/>
                <a:cs typeface="Arial"/>
              </a:rPr>
              <a:t>AI</a:t>
            </a:r>
            <a:endParaRPr lang="en-US" sz="13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7415385C-DFCF-9C52-6875-301347B05C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7413096" y="650347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compounds to 100x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build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to near-zero — PMs, QA, architects now ship.</a:t>
            </a:r>
            <a:endParaRPr lang="en-US" sz="1200"/>
          </a:p>
        </p:txBody>
      </p:sp>
      <p:pic>
        <p:nvPicPr>
          <p:cNvPr id="11" name="Image 1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hs/assets2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owned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person: PRD → design → build → docs → deploy.</a:t>
            </a:r>
            <a:endParaRPr lang="en-US" sz="1200"/>
          </a:p>
        </p:txBody>
      </p:sp>
      <p:pic>
        <p:nvPicPr>
          <p:cNvPr id="18" name="Image 3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hs/assets2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per step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loops and specs turn days into minutes.</a:t>
            </a:r>
            <a:endParaRPr lang="en-US" sz="1200"/>
          </a:p>
        </p:txBody>
      </p:sp>
      <p:pic>
        <p:nvPicPr>
          <p:cNvPr id="25" name="Image 5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dhs/assets2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100x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multipliers, compounding — that’s the math.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Multiply, don’t add — each factor amplifies the others.</a:t>
            </a:r>
            <a:endParaRPr lang="en-US" sz="1350"/>
          </a:p>
        </p:txBody>
      </p:sp>
      <p:sp>
        <p:nvSpPr>
          <p:cNvPr id="34" name="Text 24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35" name="Picture 34" descr="preencoded.png">
            <a:extLst>
              <a:ext uri="{FF2B5EF4-FFF2-40B4-BE49-F238E27FC236}">
                <a16:creationId xmlns:a16="http://schemas.microsoft.com/office/drawing/2014/main" id="{63E227BD-095E-2686-5CEA-4378259D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— your files &amp; the flow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10" name="Files"/>
          <p:cNvGraphicFramePr>
            <a:graphicFrameLocks noGrp="1"/>
          </p:cNvGraphicFramePr>
          <p:nvPr/>
        </p:nvGraphicFramePr>
        <p:xfrm>
          <a:off x="502920" y="1620000"/>
          <a:ext cx="11183112" cy="2160000"/>
        </p:xfrm>
        <a:graphic>
          <a:graphicData uri="http://schemas.openxmlformats.org/drawingml/2006/table">
            <a:tbl>
              <a:tblPr firstRow="1" bandRow="1"/>
              <a:tblGrid>
                <a:gridCol w="3950000"/>
                <a:gridCol w="3616556"/>
                <a:gridCol w="3616556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File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What it is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When you use it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Pre-Flight_Environment_Guide.md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Full setup guide — macOS + Windows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① The day before — install everything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Environment_Checklist_Card.md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One-page quick checklist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② Workshop morning — verify + smoke test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Analytics Vidhya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DataHack Summit 2026 — Speaker Template</dc:title>
  <dc:subject>PptxGenJS Presentation</dc:subject>
  <dc:creator>DataHack Summit 2026</dc:creator>
  <cp:revision>14</cp:revision>
  <dcterms:created xsi:type="dcterms:W3CDTF">2026-06-04T10:00:53Z</dcterms:created>
  <dcterms:modified xsi:type="dcterms:W3CDTF">2026-06-08T07:59:23Z</dcterms:modified>
</cp:coreProperties>
</file>