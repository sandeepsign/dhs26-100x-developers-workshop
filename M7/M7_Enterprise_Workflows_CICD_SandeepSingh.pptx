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4"/>
    <p:sldId id="264" r:id="rId11"/>
    <p:sldId id="259" r:id="rId6"/>
    <p:sldId id="258" r:id="rId5"/>
    <p:sldId id="269" r:id="rId20"/>
    <p:sldId id="270" r:id="rId21"/>
    <p:sldId id="273" r:id="rId24"/>
    <p:sldId id="265" r:id="rId12"/>
    <p:sldId id="274" r:id="rId25"/>
    <p:sldId id="267" r:id="rId3"/>
    <p:sldId id="271" r:id="rId22"/>
    <p:sldId id="272" r:id="rId23"/>
    <p:sldId id="275" r:id="rId26"/>
    <p:sldId id="276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7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E18EB-DB6B-514F-93D1-5A5737CD465D}" v="4" dt="2026-06-08T05:51:32.996"/>
    <p1510:client id="{9D2630A3-01F1-B3A4-3C1C-E3C4B9D4185A}" v="19" dt="2026-06-08T07:58:43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14" Type="http://schemas.openxmlformats.org/officeDocument/2006/relationships/notesMaster" Target="notesMasters/notesMaster1.xml"/>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  <Relationship Id="rId26" Type="http://schemas.openxmlformats.org/officeDocument/2006/relationships/slide" Target="slides/slide19.xml"/>
  <Relationship Id="rId27" Type="http://schemas.openxmlformats.org/officeDocument/2006/relationships/slide" Target="slides/slide2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CC80-46D1-4B6F-9086-510E80774687}" type="datetimeFigureOut"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F48A4-F1E9-490D-8E72-314064DE6C2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17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4122C-8C54-E0A0-655E-CE297F1C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240F-C18D-AB6B-AD34-BAB40E252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70255-59C9-7E5C-C4C7-A3CD03049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B5A-7F73-B2EE-324C-8D28DE12D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70" Type="http://schemas.openxmlformats.org/officeDocument/2006/relationships/image" Target="../media/img_m6_brief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70" Type="http://schemas.openxmlformats.org/officeDocument/2006/relationships/image" Target="../media/img_m6_docs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70" Type="http://schemas.openxmlformats.org/officeDocument/2006/relationships/image" Target="../media/img_m6_hl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70" Type="http://schemas.openxmlformats.org/officeDocument/2006/relationships/image" Target="../media/img_m6_arch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70" Type="http://schemas.openxmlformats.org/officeDocument/2006/relationships/image" Target="../media/img_m6_rubric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70" Type="http://schemas.openxmlformats.org/officeDocument/2006/relationships/image" Target="../media/img_m6_runit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2114E-12E7-7155-A7DA-AF2F85C2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D93CDB-E710-9960-24B3-594FE67B39A6}"/>
              </a:ext>
            </a:extLst>
          </p:cNvPr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8D09E8-44B5-4A76-68D7-49214D94ECDB}"/>
              </a:ext>
            </a:extLst>
          </p:cNvPr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F2247"/>
                </a:solidFill>
                <a:latin typeface="Arial"/>
                <a:ea typeface="+mn-lt"/>
                <a:cs typeface="Arial"/>
              </a:rPr>
              <a:t>BUILD #6 — triage, fix, ship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83AC64-37FB-2B7C-A60C-21E2E72B1776}"/>
              </a:ext>
            </a:extLst>
          </p:cNvPr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5743F8-68ED-A2CC-2534-EA4AE27A90B6}"/>
              </a:ext>
            </a:extLst>
          </p:cNvPr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A869DD1-E5F6-ADC3-29AC-6F3C62827CEF}"/>
              </a:ext>
            </a:extLst>
          </p:cNvPr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6AE37FD4-7FC0-7C24-5804-7D90B078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0CCE9079-A86A-9372-9ADB-DBAC133F295C}"/>
              </a:ext>
            </a:extLst>
          </p:cNvPr>
          <p:cNvSpPr/>
          <p:nvPr/>
        </p:nvSpPr>
        <p:spPr>
          <a:xfrm>
            <a:off x="6340041" y="1836421"/>
            <a:ext cx="5463941" cy="71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2247"/>
                </a:solidFill>
                <a:ea typeface="+mn-lt"/>
                <a:cs typeface="+mn-lt"/>
              </a:rPr>
              <a:t>Your task — 30 minutes</a:t>
            </a:r>
            <a:endParaRPr lang="en-US" sz="2800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BB24D4E-0E8A-852A-A0B3-CB3356346CC3}"/>
              </a:ext>
            </a:extLst>
          </p:cNvPr>
          <p:cNvSpPr/>
          <p:nvPr/>
        </p:nvSpPr>
        <p:spPr>
          <a:xfrm>
            <a:off x="6340041" y="2280426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>
                <a:solidFill>
                  <a:srgbClr val="3A4866"/>
                </a:solidFill>
                <a:ea typeface="+mn-lt"/>
                <a:cs typeface="+mn-lt"/>
              </a:rPr>
              <a:t>Triage 3 bugs, fix the top one test-first, then ship it through CI with AI review.</a:t>
            </a:r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5E1FFEA-9D5E-B31D-32EF-5A2E5C2B01FF}"/>
              </a:ext>
            </a:extLst>
          </p:cNvPr>
          <p:cNvSpPr/>
          <p:nvPr/>
        </p:nvSpPr>
        <p:spPr>
          <a:xfrm>
            <a:off x="6720840" y="3193101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Triage 3 seeded bugs via the GitHub MCP</a:t>
            </a:r>
            <a:endParaRPr lang="en-U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22BD7E4D-8C74-0052-19C3-0AC687508A15}"/>
              </a:ext>
            </a:extLst>
          </p:cNvPr>
          <p:cNvSpPr/>
          <p:nvPr/>
        </p:nvSpPr>
        <p:spPr>
          <a:xfrm>
            <a:off x="6720840" y="3705165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Fix the top bug test-first (red → green)</a:t>
            </a:r>
            <a:endParaRPr lang="en-US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62E7F96-C16C-A479-AD18-DAB3BDC59B26}"/>
              </a:ext>
            </a:extLst>
          </p:cNvPr>
          <p:cNvSpPr/>
          <p:nvPr/>
        </p:nvSpPr>
        <p:spPr>
          <a:xfrm>
            <a:off x="6720840" y="4217229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Add lint + tests + AI review in CI</a:t>
            </a:r>
            <a:endParaRPr 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EC4C5B2-15C8-9830-BEB9-D30AA8642A4F}"/>
              </a:ext>
            </a:extLst>
          </p:cNvPr>
          <p:cNvSpPr/>
          <p:nvPr/>
        </p:nvSpPr>
        <p:spPr>
          <a:xfrm>
            <a:off x="6720840" y="4729293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6264A"/>
                </a:solidFill>
                <a:ea typeface="+mn-lt"/>
                <a:cs typeface="+mn-lt"/>
              </a:rPr>
              <a:t>Open a PR &amp; watch @claude review it</a:t>
            </a:r>
            <a:endParaRPr lang="en-US"/>
          </a:p>
        </p:txBody>
      </p:sp>
      <p:pic>
        <p:nvPicPr>
          <p:cNvPr id="24" name="Image 2" descr="/home/claude/dhs/assets2/icons/check.png">
            <a:extLst>
              <a:ext uri="{FF2B5EF4-FFF2-40B4-BE49-F238E27FC236}">
                <a16:creationId xmlns:a16="http://schemas.microsoft.com/office/drawing/2014/main" id="{A736BCF1-B1BD-F919-4CF5-70C524BCE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293805"/>
            <a:ext cx="256032" cy="256032"/>
          </a:xfrm>
          <a:prstGeom prst="rect">
            <a:avLst/>
          </a:prstGeom>
        </p:spPr>
      </p:pic>
      <p:pic>
        <p:nvPicPr>
          <p:cNvPr id="26" name="Image 3" descr="/home/claude/dhs/assets2/icons/check.png">
            <a:extLst>
              <a:ext uri="{FF2B5EF4-FFF2-40B4-BE49-F238E27FC236}">
                <a16:creationId xmlns:a16="http://schemas.microsoft.com/office/drawing/2014/main" id="{0FB1345D-BE3E-1A48-2B3E-C7C266556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05869"/>
            <a:ext cx="256032" cy="256032"/>
          </a:xfrm>
          <a:prstGeom prst="rect">
            <a:avLst/>
          </a:prstGeom>
        </p:spPr>
      </p:pic>
      <p:pic>
        <p:nvPicPr>
          <p:cNvPr id="28" name="Image 4" descr="/home/claude/dhs/assets2/icons/check.png">
            <a:extLst>
              <a:ext uri="{FF2B5EF4-FFF2-40B4-BE49-F238E27FC236}">
                <a16:creationId xmlns:a16="http://schemas.microsoft.com/office/drawing/2014/main" id="{D6DAF8CF-3713-EC4A-31C6-7AA87118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17933"/>
            <a:ext cx="256032" cy="256032"/>
          </a:xfrm>
          <a:prstGeom prst="rect">
            <a:avLst/>
          </a:prstGeom>
        </p:spPr>
      </p:pic>
      <p:pic>
        <p:nvPicPr>
          <p:cNvPr id="34" name="Image 4" descr="/home/claude/dhs/assets2/icons/check.png">
            <a:extLst>
              <a:ext uri="{FF2B5EF4-FFF2-40B4-BE49-F238E27FC236}">
                <a16:creationId xmlns:a16="http://schemas.microsoft.com/office/drawing/2014/main" id="{829EED07-4649-C3DE-548A-814E2E52F1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794184"/>
            <a:ext cx="256032" cy="256032"/>
          </a:xfrm>
          <a:prstGeom prst="rect">
            <a:avLst/>
          </a:prstGeom>
        </p:spPr>
      </p:pic>
      <p:sp>
        <p:nvSpPr>
          <p:cNvPr id="91" name="FileCallout"/>
          <p:cNvSpPr/>
          <p:nvPr/>
        </p:nvSpPr>
        <p:spPr>
          <a:xfrm>
            <a:off x="502920" y="6040000"/>
            <a:ext cx="1118311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E7202"/>
                </a:solidFill>
                <a:latin typeface="Arial" pitchFamily="34" charset="0"/>
              </a:rPr>
              <a:t xml:space="preserve">Your files:  </a:t>
            </a:r>
            <a:r>
              <a:rPr lang="en-US" sz="1050">
                <a:solidFill>
                  <a:srgbClr val="16264A"/>
                </a:solidFill>
                <a:latin typeface="Consolas" pitchFamily="34" charset="0"/>
                <a:cs typeface="Consolas" pitchFamily="34" charset="0"/>
              </a:rPr>
              <a:t>Build6_Lab_Guide.md   ·   seed-bugs.md   ·   ci.yml</a:t>
            </a:r>
          </a:p>
        </p:txBody>
      </p:sp>
    </p:spTree>
    <p:extLst>
      <p:ext uri="{BB962C8B-B14F-4D97-AF65-F5344CB8AC3E}">
        <p14:creationId xmlns:p14="http://schemas.microsoft.com/office/powerpoint/2010/main" val="279516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417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0400"/>
          </a:p>
        </p:txBody>
      </p:sp>
      <p:sp>
        <p:nvSpPr>
          <p:cNvPr id="4" name="Text 1"/>
          <p:cNvSpPr/>
          <p:nvPr/>
        </p:nvSpPr>
        <p:spPr>
          <a:xfrm>
            <a:off x="530352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 ·  3:40–4:35</a:t>
            </a:r>
            <a:endParaRPr lang="en-US" sz="1300"/>
          </a:p>
        </p:txBody>
      </p:sp>
      <p:sp>
        <p:nvSpPr>
          <p:cNvPr id="5" name="Text 2"/>
          <p:cNvSpPr/>
          <p:nvPr/>
        </p:nvSpPr>
        <p:spPr>
          <a:xfrm>
            <a:off x="5029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Workflows &amp; CI/CD Automation</a:t>
            </a:r>
            <a:endParaRPr lang="en-US" sz="4200"/>
          </a:p>
        </p:txBody>
      </p:sp>
      <p:sp>
        <p:nvSpPr>
          <p:cNvPr id="6" name="Text 3"/>
          <p:cNvSpPr/>
          <p:nvPr/>
        </p:nvSpPr>
        <p:spPr>
          <a:xfrm>
            <a:off x="512064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loop: triage a bug, fix it test-first, and ship it through a pipeline that lints, tests and reviews with AI — automatically, on every pull request.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450612" y="6533848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3886F0"/>
                </a:solidFill>
                <a:latin typeface="Arial"/>
                <a:ea typeface="+mn-lt"/>
                <a:cs typeface="Arial"/>
              </a:rPr>
              <a:t>Human</a:t>
            </a:r>
            <a:r>
              <a:rPr lang="en-US" sz="1300">
                <a:solidFill>
                  <a:srgbClr val="777799"/>
                </a:solidFill>
                <a:latin typeface="Arial"/>
                <a:ea typeface="+mn-lt"/>
                <a:cs typeface="Arial"/>
              </a:rPr>
              <a:t> × </a:t>
            </a:r>
            <a:r>
              <a:rPr lang="en-US" sz="1300" b="1">
                <a:solidFill>
                  <a:srgbClr val="17B4AC"/>
                </a:solidFill>
                <a:latin typeface="Arial"/>
                <a:ea typeface="+mn-lt"/>
                <a:cs typeface="Arial"/>
              </a:rPr>
              <a:t>AI</a:t>
            </a:r>
            <a:endParaRPr lang="en-US" sz="1300">
              <a:solidFill>
                <a:srgbClr val="17B4AC"/>
              </a:solidFill>
              <a:latin typeface="Arial"/>
              <a:ea typeface="+mn-lt"/>
              <a:cs typeface="Arial"/>
            </a:endParaRPr>
          </a:p>
          <a:p>
            <a:pPr algn="r"/>
            <a:endParaRPr lang="en-US" sz="13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B0152DA7-943D-E4FD-C21F-6FED3C2829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6704013" y="481013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triage — from backlog to ranked in minutes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agent at your issues; it classifies, dedupes and ranks them.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in every open issue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Jira via M5’s MCP wiring — it reads them all.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by real impact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× blast radius × effort — not newest-first.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 per fix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revertible changes — never one giant commit.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in minutes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 grooming meeting is now a two-minute pass.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ranked in one pass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triage — not a meeting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laptop to the pipeline — the enterprise loop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agent that builds now triages, fixes, reviews and ships.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bug now runs one loop: triage by impact, fix test-first, review in CI, ship on green — then it repeats on the next issue. Humans stay on the approval path.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Triage: rank incoming bugs by impact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reproduce, then fix test-first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AI reviews every PR in CI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Ship: lint + tests + review gate the merge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0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2D7F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/>
          </a:p>
        </p:txBody>
      </p:sp>
      <p:sp>
        <p:nvSpPr>
          <p:cNvPr id="4" name="Text 1"/>
          <p:cNvSpPr/>
          <p:nvPr/>
        </p:nvSpPr>
        <p:spPr>
          <a:xfrm>
            <a:off x="868680" y="2286000"/>
            <a:ext cx="7040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doesn’t stop at your laptop.</a:t>
            </a:r>
            <a:endParaRPr lang="en-US" sz="3400"/>
          </a:p>
        </p:txBody>
      </p:sp>
      <p:sp>
        <p:nvSpPr>
          <p:cNvPr id="5" name="Shape 2"/>
          <p:cNvSpPr/>
          <p:nvPr/>
        </p:nvSpPr>
        <p:spPr>
          <a:xfrm>
            <a:off x="914400" y="4800600"/>
            <a:ext cx="457200" cy="45720"/>
          </a:xfrm>
          <a:prstGeom prst="rect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937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AEB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triages the bug, writes the fix test-first, and reviews the pull request inside your pipeline — on every push, without you.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A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05–08, 2026  ·  The Leela Bhartiya City, Bengaluru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229600" y="6400800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>
                <a:solidFill>
                  <a:srgbClr val="2D7FF9"/>
                </a:solidFill>
                <a:latin typeface="Arial"/>
                <a:ea typeface="Arial" pitchFamily="34" charset="-122"/>
                <a:cs typeface="Arial"/>
              </a:rPr>
              <a:t>Human</a:t>
            </a:r>
            <a:r>
              <a:rPr lang="en-US" sz="1300">
                <a:solidFill>
                  <a:srgbClr val="9AA4C0"/>
                </a:solidFill>
                <a:latin typeface="Arial"/>
                <a:ea typeface="Arial" pitchFamily="34" charset="-122"/>
                <a:cs typeface="Arial"/>
              </a:rPr>
              <a:t> ×</a:t>
            </a:r>
            <a:r>
              <a:rPr lang="en-US" sz="1300" b="1">
                <a:solidFill>
                  <a:srgbClr val="1FB6A6"/>
                </a:solidFill>
                <a:latin typeface="Arial"/>
                <a:ea typeface="Arial" pitchFamily="34" charset="-122"/>
                <a:cs typeface="Arial"/>
              </a:rPr>
              <a:t>AI</a:t>
            </a:r>
            <a:endParaRPr lang="en-US" sz="13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</p:txBody>
      </p:sp>
      <p:pic>
        <p:nvPicPr>
          <p:cNvPr id="10" name="Picture 9" descr="preencoded.png">
            <a:extLst>
              <a:ext uri="{FF2B5EF4-FFF2-40B4-BE49-F238E27FC236}">
                <a16:creationId xmlns:a16="http://schemas.microsoft.com/office/drawing/2014/main" id="{7415385C-DFCF-9C52-6875-301347B0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76"/>
          <a:stretch>
            <a:fillRect/>
          </a:stretch>
        </p:blipFill>
        <p:spPr>
          <a:xfrm>
            <a:off x="7413096" y="650347"/>
            <a:ext cx="5483224" cy="546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#6 pipeline — triage → fix → ship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421892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hs/assets2/icons/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798064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731520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3 bugs, then rank them by impact via the GitHub MCP.</a:t>
            </a:r>
            <a:endParaRPr lang="en-US" sz="1200"/>
          </a:p>
        </p:txBody>
      </p:sp>
      <p:pic>
        <p:nvPicPr>
          <p:cNvPr id="11" name="Image 1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396" y="34290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502152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73075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/>
          </a:p>
        </p:txBody>
      </p:sp>
      <p:sp>
        <p:nvSpPr>
          <p:cNvPr id="14" name="Shape 10"/>
          <p:cNvSpPr/>
          <p:nvPr/>
        </p:nvSpPr>
        <p:spPr>
          <a:xfrm>
            <a:off x="4421124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hs/assets2/icons/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279806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3730752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top bug test-first — a failing test, then make it green.</a:t>
            </a:r>
            <a:endParaRPr lang="en-US" sz="1200"/>
          </a:p>
        </p:txBody>
      </p:sp>
      <p:pic>
        <p:nvPicPr>
          <p:cNvPr id="18" name="Image 3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28" y="3429000"/>
            <a:ext cx="274320" cy="274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50138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729984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B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/>
          </a:p>
        </p:txBody>
      </p:sp>
      <p:sp>
        <p:nvSpPr>
          <p:cNvPr id="21" name="Shape 15"/>
          <p:cNvSpPr/>
          <p:nvPr/>
        </p:nvSpPr>
        <p:spPr>
          <a:xfrm>
            <a:off x="7420356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B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/home/claude/dhs/assets2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4092" y="2798064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38544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800"/>
          </a:p>
        </p:txBody>
      </p:sp>
      <p:sp>
        <p:nvSpPr>
          <p:cNvPr id="24" name="Text 17"/>
          <p:cNvSpPr/>
          <p:nvPr/>
        </p:nvSpPr>
        <p:spPr>
          <a:xfrm>
            <a:off x="6729984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CI: lint + tests + AI review on every PR.</a:t>
            </a:r>
            <a:endParaRPr lang="en-US" sz="1200"/>
          </a:p>
        </p:txBody>
      </p:sp>
      <p:pic>
        <p:nvPicPr>
          <p:cNvPr id="25" name="Image 5" descr="/home/claude/dhs/assets2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60" y="3429000"/>
            <a:ext cx="274320" cy="27432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0061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97292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D7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/>
          </a:p>
        </p:txBody>
      </p:sp>
      <p:sp>
        <p:nvSpPr>
          <p:cNvPr id="28" name="Shape 20"/>
          <p:cNvSpPr/>
          <p:nvPr/>
        </p:nvSpPr>
        <p:spPr>
          <a:xfrm>
            <a:off x="10419588" y="2606040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/home/claude/dhs/assets2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3324" y="2798064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637776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run</a:t>
            </a:r>
            <a:endParaRPr lang="en-US" sz="1800"/>
          </a:p>
        </p:txBody>
      </p:sp>
      <p:sp>
        <p:nvSpPr>
          <p:cNvPr id="31" name="Text 22"/>
          <p:cNvSpPr/>
          <p:nvPr/>
        </p:nvSpPr>
        <p:spPr>
          <a:xfrm>
            <a:off x="9729216" y="40690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PR and watch the checks — including @claude — run.</a:t>
            </a:r>
            <a:endParaRPr lang="en-US" sz="1200"/>
          </a:p>
        </p:txBody>
      </p:sp>
      <p:sp>
        <p:nvSpPr>
          <p:cNvPr id="32" name="Text 23"/>
          <p:cNvSpPr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bug report to a reviewed, tested, merged fix — the whole enterprise loop in ~30 minutes.</a:t>
            </a:r>
            <a:endParaRPr lang="en-US" sz="1350"/>
          </a:p>
        </p:txBody>
      </p:sp>
      <p:sp>
        <p:nvSpPr>
          <p:cNvPr id="34" name="Text 24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35" name="Picture 34" descr="preencoded.png">
            <a:extLst>
              <a:ext uri="{FF2B5EF4-FFF2-40B4-BE49-F238E27FC236}">
                <a16:creationId xmlns:a16="http://schemas.microsoft.com/office/drawing/2014/main" id="{63E227BD-095E-2686-5CEA-4378259DE8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it test-first — the reproduce → green loop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failing test first proves the bug; making it pass proves the fix.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bug with a failing test, let the agent make it pass with the smallest change, and keep the test — it becomes a permanent regression guard. Small diffs stay reviewable.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with a failing test first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makes it green with the smallest fix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diff small and scoped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stays — a regression guard forever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as code — lint, test, AI review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YAML file in the repo runs the whole quality gate on every PR.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agent to generate a GitHub Actions workflow — install, lint, test, then a headless AI review via the Claude Code Action. It lives in .github/workflows and runs on every pull request.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pull_request — automatically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anthropics/claude-code-action@v1 for AI review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ANTHROPIC_API_KEY stored as a repo secret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gate is version-controlled with the code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generation — the paths humans forget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unit and edge-case tests from the code; they become the CI gate.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writes happy-path, edge-case and error-path tests straight from the code — the cases people skip under deadline. Run them in CI and every future change must pass. QA professionals become AI test directors.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edge-case tests, generated from code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paths humans forget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 becomes the CI gate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shifts from writing to directing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just built — the loop is closed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532120" cy="4160520"/>
          </a:xfrm>
          <a:prstGeom prst="roundRect">
            <a:avLst>
              <a:gd name="adj" fmla="val 1758"/>
            </a:avLst>
          </a:prstGeom>
          <a:blipFill>
            <a:blip r:embed="rId70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645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triaged bug, a test-first fix, and a pipeline that guards every future PR.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6355080" y="239572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30 minutes you ran the full enterprise loop — and left behind a CI pipeline that lints, tests and AI-reviews every pull request from now on, with humans on the approval path.</a:t>
            </a:r>
            <a:endParaRPr lang="en-US" sz="1400"/>
          </a:p>
        </p:txBody>
      </p:sp>
      <p:pic>
        <p:nvPicPr>
          <p:cNvPr id="10" name="Image 1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3872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0840" y="34838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triaged, prioritized bug list</a:t>
            </a:r>
            <a:endParaRPr lang="en-US" sz="1350"/>
          </a:p>
        </p:txBody>
      </p:sp>
      <p:pic>
        <p:nvPicPr>
          <p:cNvPr id="12" name="Image 2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507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39959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test-first fix in a small PR</a:t>
            </a:r>
            <a:endParaRPr lang="en-US" sz="1350"/>
          </a:p>
        </p:txBody>
      </p:sp>
      <p:pic>
        <p:nvPicPr>
          <p:cNvPr id="14" name="Image 3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562856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4507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pipeline: lint + tests + AI review</a:t>
            </a:r>
            <a:endParaRPr lang="en-US" sz="1350"/>
          </a:p>
        </p:txBody>
      </p:sp>
      <p:pic>
        <p:nvPicPr>
          <p:cNvPr id="16" name="Image 4" descr="/home/claude/dhs/assets2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0749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50200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6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PR reviewed automatically</a:t>
            </a:r>
            <a:endParaRPr lang="en-US" sz="1350"/>
          </a:p>
        </p:txBody>
      </p:sp>
      <p:sp>
        <p:nvSpPr>
          <p:cNvPr id="19" name="Text 11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0" name="Picture 19" descr="preencoded.png">
            <a:extLst>
              <a:ext uri="{FF2B5EF4-FFF2-40B4-BE49-F238E27FC236}">
                <a16:creationId xmlns:a16="http://schemas.microsoft.com/office/drawing/2014/main" id="{8772056E-CEB3-D1AE-6154-FCD1CDCF6E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review — right inside the pull request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review posts inline comments by severity — on every push.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every PR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diff in the context of the whole repo, on every push.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Severity-tagged findings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comments tagged by severity — bugs, not nitpicks.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security, not style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logic errors and security issues humans skim past.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in control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approve or reject — humans stay on the merge path.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reviewed, on every push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the decision-maker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— your files &amp; the flow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10" name="Files"/>
          <p:cNvGraphicFramePr>
            <a:graphicFrameLocks noGrp="1"/>
          </p:cNvGraphicFramePr>
          <p:nvPr/>
        </p:nvGraphicFramePr>
        <p:xfrm>
          <a:off x="502920" y="1620000"/>
          <a:ext cx="11183112" cy="3460000"/>
        </p:xfrm>
        <a:graphic>
          <a:graphicData uri="http://schemas.openxmlformats.org/drawingml/2006/table">
            <a:tbl>
              <a:tblPr firstRow="1" bandRow="1"/>
              <a:tblGrid>
                <a:gridCol w="3950000"/>
                <a:gridCol w="3616556"/>
                <a:gridCol w="361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File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What it is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When you use it</a:t>
                      </a:r>
                    </a:p>
                  </a:txBody>
                  <a:tcPr marL="82296" marR="82296" marT="45720" marB="45720" anchor="ctr">
                    <a:solidFill>
                      <a:srgbClr val="0F2247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Build6_Lab_Guide.md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Step-by-step Build #6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① Follow during the lab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seed-bugs.md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3 seeded TaskFlow bugs to triage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② Paste as issues, then triage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ci.yml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Reference GitHub Actions pipeline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Copy into .github/workflows/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CICD_Cheatsheet.md  ·  plus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triggers, jobs &amp; the AI step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keep open while wiring CI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Consolas" pitchFamily="34" charset="0"/>
                          <a:cs typeface="Consolas" pitchFamily="34" charset="0"/>
                        </a:rPr>
                        <a:t>   examples/ (fix · tests · review)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a worked TaskFlow reference set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compare against your own work</a:t>
                      </a:r>
                    </a:p>
                  </a:txBody>
                  <a:tcPr marL="82296" marR="82296" marT="45720" marB="4572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— the loop runs without you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fixing, review and shipping — now a pipeline, not a person’s afternoon.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that never sleeps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ranks incoming bugs by impact — no more newest-first firefighting.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that stay fixed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Test-first fixes leave a regression guard behind every time.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1FB6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on every push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reviews land as inline comments before a human ever looks.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66928" y="4956048"/>
            <a:ext cx="146304" cy="146304"/>
          </a:xfrm>
          <a:prstGeom prst="ellipse">
            <a:avLst/>
          </a:prstGeom>
          <a:solidFill>
            <a:srgbClr val="2D7F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837176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approvals
</a:t>
            </a:r>
            <a:r>
              <a:rPr lang="en-US" sz="130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gate quality; humans make the call to merge. Next: showcase &amp; your 100x roadmap.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8732520" y="20116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21214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2D7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min</a:t>
            </a:r>
            <a:endParaRPr lang="en-US" sz="5000"/>
          </a:p>
        </p:txBody>
      </p:sp>
      <p:sp>
        <p:nvSpPr>
          <p:cNvPr id="16" name="Text 14"/>
          <p:cNvSpPr/>
          <p:nvPr/>
        </p:nvSpPr>
        <p:spPr>
          <a:xfrm>
            <a:off x="8823960" y="29992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extra effort on the next PR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32520" y="3840480"/>
            <a:ext cx="297180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CE4F2"/>
            </a:solidFill>
            <a:prstDash val="solid"/>
          </a:ln>
          <a:effectLst>
            <a:outerShdw blurRad="114300" dist="25400" dir="5400000" algn="bl" rotWithShape="0">
              <a:srgbClr val="26324D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32520" y="3950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1FB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0"/>
          </a:p>
        </p:txBody>
      </p:sp>
      <p:sp>
        <p:nvSpPr>
          <p:cNvPr id="19" name="Text 17"/>
          <p:cNvSpPr/>
          <p:nvPr/>
        </p:nvSpPr>
        <p:spPr>
          <a:xfrm>
            <a:off x="8823960" y="48280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3A4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gate every merge</a:t>
            </a:r>
            <a:endParaRPr lang="en-US" sz="1250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82296" cy="603504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0F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CI/CD toolkit — trigger → what runs → when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83112" cy="27432"/>
          </a:xfrm>
          <a:prstGeom prst="rect">
            <a:avLst/>
          </a:prstGeom>
          <a:solidFill>
            <a:srgbClr val="FE7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41908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20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A T A H A C K   S U M M I T   2 0 2 6</a:t>
            </a:r>
            <a:endParaRPr lang="en-US" sz="950"/>
          </a:p>
        </p:txBody>
      </p:sp>
      <p:pic>
        <p:nvPicPr>
          <p:cNvPr id="23" name="Picture 22" descr="preencoded.png">
            <a:extLst>
              <a:ext uri="{FF2B5EF4-FFF2-40B4-BE49-F238E27FC236}">
                <a16:creationId xmlns:a16="http://schemas.microsoft.com/office/drawing/2014/main" id="{92BD9C5A-DB0A-BB9B-F72F-CE9A5CC20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176"/>
          <a:stretch>
            <a:fillRect/>
          </a:stretch>
        </p:blipFill>
        <p:spPr>
          <a:xfrm>
            <a:off x="10792419" y="367621"/>
            <a:ext cx="852695" cy="852309"/>
          </a:xfrm>
          <a:prstGeom prst="rect">
            <a:avLst/>
          </a:prstGeom>
        </p:spPr>
      </p:pic>
      <p:graphicFrame>
        <p:nvGraphicFramePr>
          <p:cNvPr id="220" name="Cheat"/>
          <p:cNvGraphicFramePr>
            <a:graphicFrameLocks noGrp="1"/>
          </p:cNvGraphicFramePr>
          <p:nvPr/>
        </p:nvGraphicFramePr>
        <p:xfrm>
          <a:off x="502920" y="1600000"/>
          <a:ext cx="11183112" cy="3760000"/>
        </p:xfrm>
        <a:graphic>
          <a:graphicData uri="http://schemas.openxmlformats.org/drawingml/2006/table">
            <a:tbl>
              <a:tblPr firstRow="1" bandRow="1"/>
              <a:tblGrid>
                <a:gridCol w="2050000"/>
                <a:gridCol w="3766556"/>
                <a:gridCol w="5366556"/>
              </a:tblGrid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Stage</a:t>
                      </a:r>
                    </a:p>
                  </a:txBody>
                  <a:tcPr marL="82296" marR="82296" marT="41000" marB="4100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What it does</a:t>
                      </a:r>
                    </a:p>
                  </a:txBody>
                  <a:tcPr marL="82296" marR="82296" marT="41000" marB="41000" anchor="ctr"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cs typeface="Arial" pitchFamily="34" charset="0"/>
                        </a:rPr>
                        <a:t>How you wire it</a:t>
                      </a:r>
                    </a:p>
                  </a:txBody>
                  <a:tcPr marL="82296" marR="82296" marT="41000" marB="41000" anchor="ctr">
                    <a:solidFill>
                      <a:srgbClr val="0F2247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Triage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Rank &amp; route incoming bugs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GitHub MCP: “list open issues, rank by impact.”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Fix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Reproduce, then fix test-first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“Write a failing test for this bug, then make it pass.”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Lint + test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Quality gate on every PR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GitHub Actions: npm run lint &amp;&amp; npm test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AI review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Headless review posts inline comments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uses: anthropics/claude-code-action@v1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3F6FC"/>
                    </a:solidFill>
                  </a:tcPr>
                </a:tc>
              </a:tr>
              <a:tr h="680000"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50" b="1">
                          <a:solidFill>
                            <a:srgbClr val="16264A"/>
                          </a:solidFill>
                          <a:latin typeface="Arial" pitchFamily="34" charset="0"/>
                          <a:cs typeface="Arial" pitchFamily="34" charset="0"/>
                        </a:rPr>
                        <a:t>Ship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26324D"/>
                          </a:solidFill>
                          <a:latin typeface="Calibri" pitchFamily="34" charset="0"/>
                          <a:cs typeface="Calibri" pitchFamily="34" charset="0"/>
                        </a:rPr>
                        <a:t>Merge when all checks are green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lang="en-US" sz="1000" b="0">
                          <a:solidFill>
                            <a:srgbClr val="16264A"/>
                          </a:solidFill>
                          <a:latin typeface="Calibri" pitchFamily="34" charset="0"/>
                          <a:cs typeface="Calibri" pitchFamily="34" charset="0"/>
                        </a:rPr>
                        <a:t>Branch protection: require CI + review to pass</a:t>
                      </a:r>
                    </a:p>
                  </a:txBody>
                  <a:tcPr marL="82296" marR="82296" marT="41000" marB="41000" anchor="ctr">
                    <a:lnB w="6350" cap="flat">
                      <a:solidFill>
                        <a:srgbClr val="DCE4F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Analytics Vidhya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DataHack Summit 2026 — Speaker Template</dc:title>
  <dc:subject>PptxGenJS Presentation</dc:subject>
  <dc:creator>DataHack Summit 2026</dc:creator>
  <cp:revision>14</cp:revision>
  <dcterms:created xsi:type="dcterms:W3CDTF">2026-06-04T10:00:53Z</dcterms:created>
  <dcterms:modified xsi:type="dcterms:W3CDTF">2026-06-08T07:59:23Z</dcterms:modified>
</cp:coreProperties>
</file>