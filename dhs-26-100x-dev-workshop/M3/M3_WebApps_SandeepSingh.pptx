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4"/>
    <p:sldId id="264" r:id="rId11"/>
    <p:sldId id="260" r:id="rId7"/>
    <p:sldId id="258" r:id="rId5"/>
    <p:sldId id="262" r:id="rId9"/>
    <p:sldId id="259" r:id="rId6"/>
    <p:sldId id="269" r:id="rId20"/>
    <p:sldId id="272" r:id="rId23"/>
    <p:sldId id="265" r:id="rId12"/>
    <p:sldId id="270" r:id="rId21"/>
    <p:sldId id="267" r:id="rId3"/>
    <p:sldId id="273" r:id="rId24"/>
    <p:sldId id="274" r:id="rId25"/>
    <p:sldId id="27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E18EB-DB6B-514F-93D1-5A5737CD465D}" v="4" dt="2026-06-08T05:51:32.996"/>
    <p1510:client id="{9D2630A3-01F1-B3A4-3C1C-E3C4B9D4185A}" v="19" dt="2026-06-08T07:58:43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  <Relationship Id="rId23" Type="http://schemas.openxmlformats.org/officeDocument/2006/relationships/slide" Target="slides/slide16.xml"/>
  <Relationship Id="rId24" Type="http://schemas.openxmlformats.org/officeDocument/2006/relationships/slide" Target="slides/slide17.xml"/>
  <Relationship Id="rId25" Type="http://schemas.openxmlformats.org/officeDocument/2006/relationships/slide" Target="slides/slide1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8CC80-46D1-4B6F-9086-510E80774687}" type="datetimeFigureOut"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F48A4-F1E9-490D-8E72-314064DE6C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17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122C-8C54-E0A0-655E-CE297F1C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8240F-C18D-AB6B-AD34-BAB40E252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70255-59C9-7E5C-C4C7-A3CD03049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CB5A-7F73-B2EE-324C-8D28DE12D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2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40" Type="http://schemas.openxmlformats.org/officeDocument/2006/relationships/image" Target="../media/img_m3_live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40" Type="http://schemas.openxmlformats.org/officeDocument/2006/relationships/image" Target="../media/img_m3_pc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40" Type="http://schemas.openxmlformats.org/officeDocument/2006/relationships/image" Target="../media/img_m3_proto.png"/><Relationship Id="rId41" Type="http://schemas.openxmlformats.org/officeDocument/2006/relationships/image" Target="../media/img_m3_prod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40" Type="http://schemas.openxmlformats.org/officeDocument/2006/relationships/image" Target="../media/img_m3_deploy.png"/></Relationships>
</file>

<file path=ppt/slides/_rels/slide18.xml.rels><?xml version="1.0" encoding="UTF-8" standalone="yes"?>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2114E-12E7-7155-A7DA-AF2F85C2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D93CDB-E710-9960-24B3-594FE67B39A6}"/>
              </a:ext>
            </a:extLst>
          </p:cNvPr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8D09E8-44B5-4A76-68D7-49214D94ECDB}"/>
              </a:ext>
            </a:extLst>
          </p:cNvPr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>
                <a:solidFill>
                  <a:srgbClr val="0F2247"/>
                </a:solidFill>
                <a:latin typeface="Arial"/>
                <a:ea typeface="+mn-lt"/>
                <a:cs typeface="Arial"/>
              </a:rPr>
              <a:t>BUILD #2 — TaskFlow goes live</a:t>
            </a:r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83AC64-37FB-2B7C-A60C-21E2E72B1776}"/>
              </a:ext>
            </a:extLst>
          </p:cNvPr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5743F8-68ED-A2CC-2534-EA4AE27A90B6}"/>
              </a:ext>
            </a:extLst>
          </p:cNvPr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4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A869DD1-E5F6-ADC3-29AC-6F3C62827CEF}"/>
              </a:ext>
            </a:extLst>
          </p:cNvPr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6AE37FD4-7FC0-7C24-5804-7D90B078A7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CCE9079-A86A-9372-9ADB-DBAC133F295C}"/>
              </a:ext>
            </a:extLst>
          </p:cNvPr>
          <p:cNvSpPr/>
          <p:nvPr/>
        </p:nvSpPr>
        <p:spPr>
          <a:xfrm>
            <a:off x="6340041" y="1836421"/>
            <a:ext cx="5463941" cy="71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F2247"/>
                </a:solidFill>
                <a:ea typeface="+mn-lt"/>
                <a:cs typeface="+mn-lt"/>
              </a:rPr>
              <a:t>Your task — 35 minutes</a:t>
            </a:r>
            <a:endParaRPr lang="en-US" sz="2800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BB24D4E-0E8A-852A-A0B3-CB3356346CC3}"/>
              </a:ext>
            </a:extLst>
          </p:cNvPr>
          <p:cNvSpPr/>
          <p:nvPr/>
        </p:nvSpPr>
        <p:spPr>
          <a:xfrm>
            <a:off x="6340041" y="2280426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3A4866"/>
                </a:solidFill>
                <a:ea typeface="+mn-lt"/>
                <a:cs typeface="+mn-lt"/>
              </a:rPr>
              <a:t>Prototype → harden → deploy. Everyone leaves with a live URL.</a:t>
            </a:r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25E1FFEA-9D5E-B31D-32EF-5A2E5C2B01FF}"/>
              </a:ext>
            </a:extLst>
          </p:cNvPr>
          <p:cNvSpPr/>
          <p:nvPr/>
        </p:nvSpPr>
        <p:spPr>
          <a:xfrm>
            <a:off x="6720840" y="3193101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Prototype the UI in Replit (Agent)</a:t>
            </a:r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22BD7E4D-8C74-0052-19C3-0AC687508A15}"/>
              </a:ext>
            </a:extLst>
          </p:cNvPr>
          <p:cNvSpPr/>
          <p:nvPr/>
        </p:nvSpPr>
        <p:spPr>
          <a:xfrm>
            <a:off x="6720840" y="3705165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Harden with Claude Code in the shell</a:t>
            </a:r>
            <a:endParaRPr 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62E7F96-C16C-A479-AD18-DAB3BDC59B26}"/>
              </a:ext>
            </a:extLst>
          </p:cNvPr>
          <p:cNvSpPr/>
          <p:nvPr/>
        </p:nvSpPr>
        <p:spPr>
          <a:xfrm>
            <a:off x="6720840" y="4217229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Persist with Replit DB + add 2 tests</a:t>
            </a:r>
            <a:endParaRPr 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EC4C5B2-15C8-9830-BEB9-D30AA8642A4F}"/>
              </a:ext>
            </a:extLst>
          </p:cNvPr>
          <p:cNvSpPr/>
          <p:nvPr/>
        </p:nvSpPr>
        <p:spPr>
          <a:xfrm>
            <a:off x="6720840" y="4729293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Deploy → share your live link</a:t>
            </a:r>
            <a:endParaRPr lang="en-US"/>
          </a:p>
        </p:txBody>
      </p:sp>
      <p:pic>
        <p:nvPicPr>
          <p:cNvPr id="24" name="Image 2" descr="/home/claude/dhs/assets2/icons/check.png">
            <a:extLst>
              <a:ext uri="{FF2B5EF4-FFF2-40B4-BE49-F238E27FC236}">
                <a16:creationId xmlns:a16="http://schemas.microsoft.com/office/drawing/2014/main" id="{A736BCF1-B1BD-F919-4CF5-70C524BCE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93805"/>
            <a:ext cx="256032" cy="256032"/>
          </a:xfrm>
          <a:prstGeom prst="rect">
            <a:avLst/>
          </a:prstGeom>
        </p:spPr>
      </p:pic>
      <p:pic>
        <p:nvPicPr>
          <p:cNvPr id="26" name="Image 3" descr="/home/claude/dhs/assets2/icons/check.png">
            <a:extLst>
              <a:ext uri="{FF2B5EF4-FFF2-40B4-BE49-F238E27FC236}">
                <a16:creationId xmlns:a16="http://schemas.microsoft.com/office/drawing/2014/main" id="{0FB1345D-BE3E-1A48-2B3E-C7C266556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05869"/>
            <a:ext cx="256032" cy="256032"/>
          </a:xfrm>
          <a:prstGeom prst="rect">
            <a:avLst/>
          </a:prstGeom>
        </p:spPr>
      </p:pic>
      <p:pic>
        <p:nvPicPr>
          <p:cNvPr id="28" name="Image 4" descr="/home/claude/dhs/assets2/icons/check.png">
            <a:extLst>
              <a:ext uri="{FF2B5EF4-FFF2-40B4-BE49-F238E27FC236}">
                <a16:creationId xmlns:a16="http://schemas.microsoft.com/office/drawing/2014/main" id="{D6DAF8CF-3713-EC4A-31C6-7AA87118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17933"/>
            <a:ext cx="256032" cy="256032"/>
          </a:xfrm>
          <a:prstGeom prst="rect">
            <a:avLst/>
          </a:prstGeom>
        </p:spPr>
      </p:pic>
      <p:pic>
        <p:nvPicPr>
          <p:cNvPr id="34" name="Image 4" descr="/home/claude/dhs/assets2/icons/check.png">
            <a:extLst>
              <a:ext uri="{FF2B5EF4-FFF2-40B4-BE49-F238E27FC236}">
                <a16:creationId xmlns:a16="http://schemas.microsoft.com/office/drawing/2014/main" id="{829EED07-4649-C3DE-548A-814E2E52F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794184"/>
            <a:ext cx="256032" cy="256032"/>
          </a:xfrm>
          <a:prstGeom prst="rect">
            <a:avLst/>
          </a:prstGeom>
        </p:spPr>
      </p:pic>
      <p:sp>
        <p:nvSpPr>
          <p:cNvPr id="91" name="FileCallout"/>
          <p:cNvSpPr/>
          <p:nvPr/>
        </p:nvSpPr>
        <p:spPr>
          <a:xfrm>
            <a:off x="502920" y="6040000"/>
            <a:ext cx="1118311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E7202"/>
                </a:solidFill>
                <a:latin typeface="Arial" pitchFamily="34" charset="0"/>
              </a:rPr>
              <a:t xml:space="preserve">Your files:  </a:t>
            </a:r>
            <a:r>
              <a:rPr lang="en-US" sz="1050">
                <a:solidFill>
                  <a:srgbClr val="16264A"/>
                </a:solidFill>
                <a:latin typeface="Consolas" pitchFamily="34" charset="0"/>
                <a:cs typeface="Consolas" pitchFamily="34" charset="0"/>
              </a:rPr>
              <a:t>Build2_Lab_Guide.md   ·   TaskFlow_Brief.md   ·   Replit_Deploy_Cheatsheet.md</a:t>
            </a:r>
          </a:p>
        </p:txBody>
      </p:sp>
    </p:spTree>
    <p:extLst>
      <p:ext uri="{BB962C8B-B14F-4D97-AF65-F5344CB8AC3E}">
        <p14:creationId xmlns:p14="http://schemas.microsoft.com/office/powerpoint/2010/main" val="279516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0400"/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 ·  11:10–12:10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Web Applications with AI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512064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tiers — prototype fast, harden for production — and TaskFlow goes live with a URL you can open on your phone.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450612" y="653384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3886F0"/>
                </a:solidFill>
                <a:latin typeface="Arial"/>
                <a:ea typeface="+mn-lt"/>
                <a:cs typeface="Arial"/>
              </a:rPr>
              <a:t>Human</a:t>
            </a:r>
            <a:r>
              <a:rPr lang="en-US" sz="1300">
                <a:solidFill>
                  <a:srgbClr val="777799"/>
                </a:solidFill>
                <a:latin typeface="Arial"/>
                <a:ea typeface="+mn-lt"/>
                <a:cs typeface="Arial"/>
              </a:rPr>
              <a:t> × </a:t>
            </a:r>
            <a:r>
              <a:rPr lang="en-US" sz="1300" b="1">
                <a:solidFill>
                  <a:srgbClr val="17B4AC"/>
                </a:solidFill>
                <a:latin typeface="Arial"/>
                <a:ea typeface="+mn-lt"/>
                <a:cs typeface="Arial"/>
              </a:rPr>
              <a:t>AI</a:t>
            </a:r>
            <a:endParaRPr lang="en-US" sz="1300">
              <a:solidFill>
                <a:srgbClr val="17B4AC"/>
              </a:solidFill>
              <a:latin typeface="Arial"/>
              <a:ea typeface="+mn-lt"/>
              <a:cs typeface="Arial"/>
            </a:endParaRPr>
          </a:p>
          <a:p>
            <a:pPr algn="r"/>
            <a:endParaRPr lang="en-US" sz="13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B0152DA7-943D-E4FD-C21F-6FED3C2829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6704013" y="481013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prototyping tier — when speed-to-demo wins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 something you can click and share before you invest in hardening.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— idea to running app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app; Replit Agent scaffolds it and runs it — all in the browser.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— design to React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or sketch a UI; V0 generates polished React/Next components to iterate on.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the point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Throwaway-friendly: explore layouts and flows fast, keep what works.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hand off to harden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is a starting point, not a shipping product — the next tier makes it real.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to clickable prototype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setup — it all runs in the cloud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tier — make the prototype real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4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demo is easy; a product that survives users is the work.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and Claude Code turn a rough prototype into a real app — routes, a data model, validation, and tests you can trust.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API routes, not mocked data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model + persistence (Replit DB)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error handling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guard the core paths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tiers — pick by what the task needs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349240" cy="3703320"/>
          </a:xfrm>
          <a:prstGeom prst="roundRect">
            <a:avLst>
              <a:gd name="adj" fmla="val 1975"/>
            </a:avLst>
          </a:prstGeom>
          <a:blipFill>
            <a:blip r:embed="rId4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336792" y="1645920"/>
            <a:ext cx="5349240" cy="3703320"/>
          </a:xfrm>
          <a:prstGeom prst="roundRect">
            <a:avLst>
              <a:gd name="adj" fmla="val 1975"/>
            </a:avLst>
          </a:prstGeom>
          <a:blipFill>
            <a:blip r:embed="rId4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· Replit — idea → clickable in minutes</a:t>
            </a:r>
            <a:endParaRPr lang="en-US" sz="1200"/>
          </a:p>
        </p:txBody>
      </p:sp>
      <p:sp>
        <p:nvSpPr>
          <p:cNvPr id="12" name="Text 8"/>
          <p:cNvSpPr/>
          <p:nvPr/>
        </p:nvSpPr>
        <p:spPr>
          <a:xfrm>
            <a:off x="6336792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· Claude Code — real repo, tests, review</a:t>
            </a:r>
            <a:endParaRPr lang="en-US" sz="1200"/>
          </a:p>
        </p:txBody>
      </p:sp>
      <p:sp>
        <p:nvSpPr>
          <p:cNvPr id="13" name="Shape 9"/>
          <p:cNvSpPr/>
          <p:nvPr/>
        </p:nvSpPr>
        <p:spPr>
          <a:xfrm>
            <a:off x="5733288" y="3063240"/>
            <a:ext cx="731520" cy="731520"/>
          </a:xfrm>
          <a:prstGeom prst="ellipse">
            <a:avLst/>
          </a:prstGeom>
          <a:solidFill>
            <a:srgbClr val="1FB6A6"/>
          </a:solidFill>
          <a:ln w="25400">
            <a:solidFill>
              <a:srgbClr val="FFFFFF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3328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/>
          </a:p>
        </p:txBody>
      </p:sp>
      <p:sp>
        <p:nvSpPr>
          <p:cNvPr id="16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17" name="Picture 16" descr="preencoded.png">
            <a:extLst>
              <a:ext uri="{FF2B5EF4-FFF2-40B4-BE49-F238E27FC236}">
                <a16:creationId xmlns:a16="http://schemas.microsoft.com/office/drawing/2014/main" id="{50E5CEBA-6CE2-2466-1824-D27F20904D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Replit, end to end — prototype, harden, deploy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7086600" cy="4160520"/>
          </a:xfrm>
          <a:prstGeom prst="roundRect">
            <a:avLst>
              <a:gd name="adj" fmla="val 1758"/>
            </a:avLst>
          </a:prstGeom>
          <a:solidFill>
            <a:srgbClr val="0C1830"/>
          </a:solidFill>
          <a:ln w="12700">
            <a:solidFill>
              <a:srgbClr val="20305A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0432" y="182880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replit-flow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1) PROTOTYPE — Replit Agent (in browser)
</a:t>
            </a:r>
            <a:r>
              <a:rPr lang="en-US" sz="11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New Repl -&gt; Agent -&gt; describe TaskFlow
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   scaffolds + runs it. (free: ~10 checkpoints/mo)
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2) HARDEN — Claude Code, in the Repl shell
</a:t>
            </a:r>
            <a:r>
              <a:rPr lang="en-US" sz="11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npm i -g @anthropic-ai/claude-code
</a:t>
            </a:r>
            <a:r>
              <a:rPr lang="en-US" sz="115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claude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# log in with Pro — no Replit credits used
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3) DEPLOY — get a live URL
</a:t>
            </a:r>
            <a:r>
              <a:rPr lang="en-US" sz="1150">
                <a:solidFill>
                  <a:srgbClr val="5C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Run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-&gt; public *.replit.dev preview URL
</a:t>
            </a:r>
            <a:r>
              <a:rPr lang="en-US" sz="1150">
                <a:solidFill>
                  <a:srgbClr val="5C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Publish</a:t>
            </a:r>
            <a:r>
              <a:rPr lang="en-US" sz="11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-&gt; permanent *.replit.app URL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8001000" y="16459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13648" y="16459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</a:t>
            </a:r>
            <a:endParaRPr lang="en-US" sz="1700"/>
          </a:p>
        </p:txBody>
      </p:sp>
      <p:sp>
        <p:nvSpPr>
          <p:cNvPr id="14" name="Shape 11"/>
          <p:cNvSpPr/>
          <p:nvPr/>
        </p:nvSpPr>
        <p:spPr>
          <a:xfrm>
            <a:off x="8028432" y="252374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75320" y="24140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scaffolds fast — spend checkpoints wisely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8028432" y="325526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5320" y="31455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hardens (uses your Pro, not credits)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>
          <a:xfrm>
            <a:off x="8028432" y="398678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5320" y="38770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= instant public preview URL</a:t>
            </a:r>
            <a:endParaRPr lang="en-US" sz="1300"/>
          </a:p>
        </p:txBody>
      </p:sp>
      <p:sp>
        <p:nvSpPr>
          <p:cNvPr id="20" name="Shape 17"/>
          <p:cNvSpPr/>
          <p:nvPr/>
        </p:nvSpPr>
        <p:spPr>
          <a:xfrm>
            <a:off x="8028432" y="471830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5320" y="46085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= a permanent .replit.app URL</a:t>
            </a:r>
            <a:endParaRPr lang="en-US" sz="1300"/>
          </a:p>
        </p:txBody>
      </p:sp>
      <p:sp>
        <p:nvSpPr>
          <p:cNvPr id="23" name="Text 19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2" name="Picture 21" descr="preencoded.png">
            <a:extLst>
              <a:ext uri="{FF2B5EF4-FFF2-40B4-BE49-F238E27FC236}">
                <a16:creationId xmlns:a16="http://schemas.microsoft.com/office/drawing/2014/main" id="{26371A44-7EBD-9EF7-C500-A871D286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>
                <a:solidFill>
                  <a:srgbClr val="2D7F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/>
          </a:p>
        </p:txBody>
      </p:sp>
      <p:sp>
        <p:nvSpPr>
          <p:cNvPr id="4" name="Text 1"/>
          <p:cNvSpPr/>
          <p:nvPr/>
        </p:nvSpPr>
        <p:spPr>
          <a:xfrm>
            <a:off x="868680" y="228600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where speed wins. Harden where it ships.</a:t>
            </a:r>
            <a:endParaRPr lang="en-US" sz="3400"/>
          </a:p>
        </p:txBody>
      </p:sp>
      <p:sp>
        <p:nvSpPr>
          <p:cNvPr id="5" name="Shape 2"/>
          <p:cNvSpPr/>
          <p:nvPr/>
        </p:nvSpPr>
        <p:spPr>
          <a:xfrm>
            <a:off x="914400" y="4800600"/>
            <a:ext cx="457200" cy="4572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prototyping tier gets you something clickable in minutes; the production tier makes it real.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2D7FF9"/>
                </a:solidFill>
                <a:latin typeface="Arial"/>
                <a:ea typeface="Arial" pitchFamily="34" charset="-122"/>
                <a:cs typeface="Arial"/>
              </a:rPr>
              <a:t>Human</a:t>
            </a:r>
            <a:r>
              <a:rPr lang="en-US" sz="1300">
                <a:solidFill>
                  <a:srgbClr val="9AA4C0"/>
                </a:solidFill>
                <a:latin typeface="Arial"/>
                <a:ea typeface="Arial" pitchFamily="34" charset="-122"/>
                <a:cs typeface="Arial"/>
              </a:rPr>
              <a:t> ×</a:t>
            </a:r>
            <a:r>
              <a:rPr lang="en-US" sz="1300" b="1">
                <a:solidFill>
                  <a:srgbClr val="1FB6A6"/>
                </a:solidFill>
                <a:latin typeface="Arial"/>
                <a:ea typeface="Arial" pitchFamily="34" charset="-122"/>
                <a:cs typeface="Arial"/>
              </a:rPr>
              <a:t>AI</a:t>
            </a:r>
            <a:endParaRPr lang="en-US" sz="13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7415385C-DFCF-9C52-6875-301347B05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7413096" y="650347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#2 pipeline — prototype to live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Agent scaffolds the TaskFlow UI, running in-browser.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in the shell adds real API routes and validation.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+ test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Replit DB for storage; add two tests for the core paths.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 a preview URL, or Publish for a permanent one.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spec, four steps, one live URL. Everyone leaves with a link they can open on their phone.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generation patterns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 UI you actually want — fast, and consistent.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then iterate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whole screen first; refine one component at a time.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by screenshot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screenshot and say what to change — faster than describing in words.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consistency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your colors, spacing, and one example component to match.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&amp; reuse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card or header looks right, reuse it across every screen.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component sets the whole style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screenshot is the fastest UI feedback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your files &amp; the flow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10" name="Files"/>
          <p:cNvGraphicFramePr>
            <a:graphicFrameLocks noGrp="1"/>
          </p:cNvGraphicFramePr>
          <p:nvPr/>
        </p:nvGraphicFramePr>
        <p:xfrm>
          <a:off x="502920" y="1620000"/>
          <a:ext cx="11183112" cy="3400000"/>
        </p:xfrm>
        <a:graphic>
          <a:graphicData uri="http://schemas.openxmlformats.org/drawingml/2006/table">
            <a:tbl>
              <a:tblPr firstRow="1" bandRow="1"/>
              <a:tblGrid>
                <a:gridCol w="3950000"/>
                <a:gridCol w="3616556"/>
                <a:gridCol w="3616556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File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What it is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When you use it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Build2_Lab_Guide.md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Step-by-step Build #2 (Replit)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① Follow during the lab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TaskFlow_Brief.md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The anchor-project brief (from M2)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Your spec / contract — reference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Prototype_vs_Production.md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When to prototype vs harden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Keep open while building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Replit_Deploy_Cheatsheet.md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Replit Agent, DB &amp; deploy steps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② For the deploy step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vs production — the fast call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20" name="Cheat"/>
          <p:cNvGraphicFramePr>
            <a:graphicFrameLocks noGrp="1"/>
          </p:cNvGraphicFramePr>
          <p:nvPr/>
        </p:nvGraphicFramePr>
        <p:xfrm>
          <a:off x="502920" y="1620000"/>
          <a:ext cx="11183112" cy="4440000"/>
        </p:xfrm>
        <a:graphic>
          <a:graphicData uri="http://schemas.openxmlformats.org/drawingml/2006/table">
            <a:tbl>
              <a:tblPr firstRow="1" bandRow="1"/>
              <a:tblGrid>
                <a:gridCol w="2450000"/>
                <a:gridCol w="4366556"/>
                <a:gridCol w="4366556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1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/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Prototyping tier</a:t>
                      </a:r>
                    </a:p>
                  </a:txBody>
                  <a:tcPr marL="82296" marR="82296" marT="45720" marB="45720" anchor="ctr">
                    <a:solidFill>
                      <a:srgbClr val="2D7F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Production tier</a:t>
                      </a:r>
                    </a:p>
                  </a:txBody>
                  <a:tcPr marL="82296" marR="82296" marT="45720" marB="45720" anchor="ctr">
                    <a:solidFill>
                      <a:srgbClr val="1FB6A6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Goal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Something clickable, fast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Something real, shippable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Tools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Replit Agent · V0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Claude Code · Cursor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Data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Mock / hardcoded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Replit DB, validated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Tests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None yet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Core paths covered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Use it when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Explore, demo, pitch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Users depend on it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In Build #2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Step 1 (prototype)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Steps 2–4 (harden → deploy)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APIs — the spec carries forward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7086600" cy="4160520"/>
          </a:xfrm>
          <a:prstGeom prst="roundRect">
            <a:avLst>
              <a:gd name="adj" fmla="val 1758"/>
            </a:avLst>
          </a:prstGeom>
          <a:solidFill>
            <a:srgbClr val="0C1830"/>
          </a:solidFill>
          <a:ln w="12700">
            <a:solidFill>
              <a:srgbClr val="20305A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0432" y="182880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routes come straight from the M2 spec
</a:t>
            </a:r>
            <a:r>
              <a:rPr lang="en-US" sz="11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POST 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/api/tasks</a:t>
            </a: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create  (validate: title required)
</a:t>
            </a:r>
            <a:r>
              <a:rPr lang="en-US" sz="11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GET  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/api/tasks</a:t>
            </a: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list  ?assignee= &amp;status=
</a:t>
            </a:r>
            <a:r>
              <a:rPr lang="en-US" sz="11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PATCH 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/api/tasks/:id</a:t>
            </a: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move status
</a:t>
            </a: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persistence — Replit DB, zero config
</a:t>
            </a:r>
            <a:r>
              <a:rPr lang="en-US" sz="11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import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Client </a:t>
            </a:r>
            <a:r>
              <a:rPr lang="en-US" sz="11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from</a:t>
            </a:r>
            <a:r>
              <a:rPr lang="en-US" sz="110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"@replit/database"
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const db = </a:t>
            </a:r>
            <a:r>
              <a:rPr lang="en-US" sz="11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new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Client()
</a:t>
            </a:r>
            <a:r>
              <a:rPr lang="en-US" sz="11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await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db.set(`task:${id}`, task)
</a:t>
            </a:r>
            <a:r>
              <a:rPr lang="en-US" sz="11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const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tasks = </a:t>
            </a:r>
            <a:r>
              <a:rPr lang="en-US" sz="110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await</a:t>
            </a:r>
            <a:r>
              <a:rPr lang="en-US" sz="110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db.list("task:")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8001000" y="16459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13648" y="16459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prompt for</a:t>
            </a:r>
            <a:endParaRPr lang="en-US" sz="1700"/>
          </a:p>
        </p:txBody>
      </p:sp>
      <p:sp>
        <p:nvSpPr>
          <p:cNvPr id="14" name="Shape 11"/>
          <p:cNvSpPr/>
          <p:nvPr/>
        </p:nvSpPr>
        <p:spPr>
          <a:xfrm>
            <a:off x="8028432" y="252374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75320" y="24140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 ties to an acceptance criterion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8028432" y="325526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5320" y="31455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input; handle errors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>
          <a:xfrm>
            <a:off x="8028432" y="398678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5320" y="38770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DB = storage with zero setup</a:t>
            </a:r>
            <a:endParaRPr lang="en-US" sz="1300"/>
          </a:p>
        </p:txBody>
      </p:sp>
      <p:sp>
        <p:nvSpPr>
          <p:cNvPr id="20" name="Shape 17"/>
          <p:cNvSpPr/>
          <p:nvPr/>
        </p:nvSpPr>
        <p:spPr>
          <a:xfrm>
            <a:off x="8028432" y="471830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5320" y="46085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 to add 2 tests</a:t>
            </a:r>
            <a:endParaRPr lang="en-US" sz="1300"/>
          </a:p>
        </p:txBody>
      </p:sp>
      <p:sp>
        <p:nvSpPr>
          <p:cNvPr id="23" name="Text 19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2" name="Picture 21" descr="preencoded.png">
            <a:extLst>
              <a:ext uri="{FF2B5EF4-FFF2-40B4-BE49-F238E27FC236}">
                <a16:creationId xmlns:a16="http://schemas.microsoft.com/office/drawing/2014/main" id="{26371A44-7EBD-9EF7-C500-A871D286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— get your live URL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4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a live URL — one instant, one permanent.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Run and your app is already public at a *.replit.dev preview URL. Publish promotes it to a permanent *.replit.app link.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→ instant public preview URL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→ Provision → Build → Promote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apps sleep after ~5 min — they wake on visit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link — open it on your phone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— what you just shipped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live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URL, on the internet, that others can open.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→ app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M2 acceptance criteria are now working features.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tiers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felt when speed wins vs. when hardening matters.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 setup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Prototype, harden and deploy — entirely in the cloud.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and shipped a web app by directing agents. Next: the same app on a phone, plus a microservice.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Analytics Vidhya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DataHack Summit 2026 — Speaker Template</dc:title>
  <dc:subject>PptxGenJS Presentation</dc:subject>
  <dc:creator>DataHack Summit 2026</dc:creator>
  <cp:revision>14</cp:revision>
  <dcterms:created xsi:type="dcterms:W3CDTF">2026-06-04T10:00:53Z</dcterms:created>
  <dcterms:modified xsi:type="dcterms:W3CDTF">2026-06-08T07:59:23Z</dcterms:modified>
</cp:coreProperties>
</file>