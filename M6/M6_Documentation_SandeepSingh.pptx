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7" r:id="rId4"/>
    <p:sldId id="264" r:id="rId11"/>
    <p:sldId id="259" r:id="rId6"/>
    <p:sldId id="258" r:id="rId5"/>
    <p:sldId id="269" r:id="rId20"/>
    <p:sldId id="270" r:id="rId21"/>
    <p:sldId id="273" r:id="rId24"/>
    <p:sldId id="265" r:id="rId12"/>
    <p:sldId id="274" r:id="rId25"/>
    <p:sldId id="267" r:id="rId3"/>
    <p:sldId id="271" r:id="rId22"/>
    <p:sldId id="272" r:id="rId23"/>
    <p:sldId id="275" r:id="rId26"/>
    <p:sldId id="276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72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BE18EB-DB6B-514F-93D1-5A5737CD465D}" v="4" dt="2026-06-08T05:51:32.996"/>
    <p1510:client id="{9D2630A3-01F1-B3A4-3C1C-E3C4B9D4185A}" v="19" dt="2026-06-08T07:58:43.7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?><Relationships xmlns="http://schemas.openxmlformats.org/package/2006/relationships"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14" Type="http://schemas.openxmlformats.org/officeDocument/2006/relationships/notesMaster" Target="notesMasters/notesMaster1.xml"/>  <Relationship Id="rId20" Type="http://schemas.openxmlformats.org/officeDocument/2006/relationships/slide" Target="slides/slide13.xml"/>
  <Relationship Id="rId21" Type="http://schemas.openxmlformats.org/officeDocument/2006/relationships/slide" Target="slides/slide14.xml"/>
  <Relationship Id="rId22" Type="http://schemas.openxmlformats.org/officeDocument/2006/relationships/slide" Target="slides/slide15.xml"/>
  <Relationship Id="rId23" Type="http://schemas.openxmlformats.org/officeDocument/2006/relationships/slide" Target="slides/slide16.xml"/>
  <Relationship Id="rId24" Type="http://schemas.openxmlformats.org/officeDocument/2006/relationships/slide" Target="slides/slide17.xml"/>
  <Relationship Id="rId25" Type="http://schemas.openxmlformats.org/officeDocument/2006/relationships/slide" Target="slides/slide18.xml"/>
  <Relationship Id="rId26" Type="http://schemas.openxmlformats.org/officeDocument/2006/relationships/slide" Target="slides/slide19.xml"/>
  <Relationship Id="rId27" Type="http://schemas.openxmlformats.org/officeDocument/2006/relationships/slide" Target="slides/slide20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D8CC80-46D1-4B6F-9086-510E80774687}" type="datetimeFigureOut"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6F48A4-F1E9-490D-8E72-314064DE6C2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17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4122C-8C54-E0A0-655E-CE297F1C7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A8240F-C18D-AB6B-AD34-BAB40E252D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970255-59C9-7E5C-C4C7-A3CD030495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C6CB5A-7F73-B2EE-324C-8D28DE12D2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9299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Relationship Id="rId70" Type="http://schemas.openxmlformats.org/officeDocument/2006/relationships/image" Target="../media/img_m6_brief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Relationship Id="rId70" Type="http://schemas.openxmlformats.org/officeDocument/2006/relationships/image" Target="../media/img_m6_docs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1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Relationship Id="rId70" Type="http://schemas.openxmlformats.org/officeDocument/2006/relationships/image" Target="../media/img_m6_hl.png"/></Relationships>
</file>

<file path=ppt/slides/_rels/slide14.xml.rels><?xml version="1.0" encoding="UTF-8" standalone="yes"?>
<Relationships xmlns="http://schemas.openxmlformats.org/package/2006/relationships"><Relationship Id="rId3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Relationship Id="rId70" Type="http://schemas.openxmlformats.org/officeDocument/2006/relationships/image" Target="../media/img_m6_arch.png"/></Relationships>
</file>

<file path=ppt/slides/_rels/slide15.xml.rels><?xml version="1.0" encoding="UTF-8" standalone="yes"?>
<Relationships xmlns="http://schemas.openxmlformats.org/package/2006/relationships"><Relationship Id="rId3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Relationship Id="rId70" Type="http://schemas.openxmlformats.org/officeDocument/2006/relationships/image" Target="../media/img_m6_rubric.png"/></Relationships>
</file>

<file path=ppt/slides/_rels/slide16.xml.rels><?xml version="1.0" encoding="UTF-8" standalone="yes"?>
<Relationships xmlns="http://schemas.openxmlformats.org/package/2006/relationships"><Relationship Id="rId3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Relationship Id="rId70" Type="http://schemas.openxmlformats.org/officeDocument/2006/relationships/image" Target="../media/img_m6_runit.png"/></Relationships>
</file>

<file path=ppt/slides/_rels/slide17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32114E-12E7-7155-A7DA-AF2F85C21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6D93CDB-E710-9960-24B3-594FE67B39A6}"/>
              </a:ext>
            </a:extLst>
          </p:cNvPr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98D09E8-44B5-4A76-68D7-49214D94ECDB}"/>
              </a:ext>
            </a:extLst>
          </p:cNvPr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00" b="1">
                <a:solidFill>
                  <a:srgbClr val="0F2247"/>
                </a:solidFill>
                <a:latin typeface="Arial"/>
                <a:ea typeface="+mn-lt"/>
                <a:cs typeface="Arial"/>
              </a:rPr>
              <a:t>BUILD #5 — the full doc suite</a:t>
            </a:r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083AC64-37FB-2B7C-A60C-21E2E72B1776}"/>
              </a:ext>
            </a:extLst>
          </p:cNvPr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B5743F8-68ED-A2CC-2534-EA4AE27A90B6}"/>
              </a:ext>
            </a:extLst>
          </p:cNvPr>
          <p:cNvSpPr/>
          <p:nvPr/>
        </p:nvSpPr>
        <p:spPr>
          <a:xfrm>
            <a:off x="502920" y="1600200"/>
            <a:ext cx="5532120" cy="4160520"/>
          </a:xfrm>
          <a:prstGeom prst="roundRect">
            <a:avLst>
              <a:gd name="adj" fmla="val 1758"/>
            </a:avLst>
          </a:prstGeom>
          <a:blipFill>
            <a:blip r:embed="rId70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DA869DD1-E5F6-ADC3-29AC-6F3C62827CEF}"/>
              </a:ext>
            </a:extLst>
          </p:cNvPr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0" name="Picture 19" descr="preencoded.png">
            <a:extLst>
              <a:ext uri="{FF2B5EF4-FFF2-40B4-BE49-F238E27FC236}">
                <a16:creationId xmlns:a16="http://schemas.microsoft.com/office/drawing/2014/main" id="{6AE37FD4-7FC0-7C24-5804-7D90B078A75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0CCE9079-A86A-9372-9ADB-DBAC133F295C}"/>
              </a:ext>
            </a:extLst>
          </p:cNvPr>
          <p:cNvSpPr/>
          <p:nvPr/>
        </p:nvSpPr>
        <p:spPr>
          <a:xfrm>
            <a:off x="6340041" y="1836421"/>
            <a:ext cx="5463941" cy="710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>
                <a:solidFill>
                  <a:srgbClr val="0F2247"/>
                </a:solidFill>
                <a:ea typeface="+mn-lt"/>
                <a:cs typeface="+mn-lt"/>
              </a:rPr>
              <a:t>Your task — 25 minutes</a:t>
            </a:r>
            <a:endParaRPr lang="en-US" sz="2800" b="1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ABB24D4E-0E8A-852A-A0B3-CB3356346CC3}"/>
              </a:ext>
            </a:extLst>
          </p:cNvPr>
          <p:cNvSpPr/>
          <p:nvPr/>
        </p:nvSpPr>
        <p:spPr>
          <a:xfrm>
            <a:off x="6340041" y="2280426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rgbClr val="3A4866"/>
                </a:solidFill>
                <a:ea typeface="+mn-lt"/>
                <a:cs typeface="+mn-lt"/>
              </a:rPr>
              <a:t>Generate five docs from your real code, then peer-review a PRD.</a:t>
            </a:r>
            <a:endParaRPr lang="en-US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25E1FFEA-9D5E-B31D-32EF-5A2E5C2B01FF}"/>
              </a:ext>
            </a:extLst>
          </p:cNvPr>
          <p:cNvSpPr/>
          <p:nvPr/>
        </p:nvSpPr>
        <p:spPr>
          <a:xfrm>
            <a:off x="6720840" y="3193101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>
                <a:solidFill>
                  <a:srgbClr val="16264A"/>
                </a:solidFill>
                <a:ea typeface="+mn-lt"/>
                <a:cs typeface="+mn-lt"/>
              </a:rPr>
              <a:t>1-page PRD — retrofit from the code</a:t>
            </a:r>
            <a:endParaRPr lang="en-US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22BD7E4D-8C74-0052-19C3-0AC687508A15}"/>
              </a:ext>
            </a:extLst>
          </p:cNvPr>
          <p:cNvSpPr/>
          <p:nvPr/>
        </p:nvSpPr>
        <p:spPr>
          <a:xfrm>
            <a:off x="6720840" y="3705165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>
                <a:solidFill>
                  <a:srgbClr val="16264A"/>
                </a:solidFill>
                <a:ea typeface="+mn-lt"/>
                <a:cs typeface="+mn-lt"/>
              </a:rPr>
              <a:t>HLD with a Mermaid architecture diagram</a:t>
            </a:r>
            <a:endParaRPr lang="en-US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62E7F96-C16C-A479-AD18-DAB3BDC59B26}"/>
              </a:ext>
            </a:extLst>
          </p:cNvPr>
          <p:cNvSpPr/>
          <p:nvPr/>
        </p:nvSpPr>
        <p:spPr>
          <a:xfrm>
            <a:off x="6720840" y="4217229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>
                <a:solidFill>
                  <a:srgbClr val="16264A"/>
                </a:solidFill>
                <a:ea typeface="+mn-lt"/>
                <a:cs typeface="+mn-lt"/>
              </a:rPr>
              <a:t>LLD for the notifications service</a:t>
            </a:r>
            <a:endParaRPr lang="en-US"/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0EC4C5B2-15C8-9830-BEB9-D30AA8642A4F}"/>
              </a:ext>
            </a:extLst>
          </p:cNvPr>
          <p:cNvSpPr/>
          <p:nvPr/>
        </p:nvSpPr>
        <p:spPr>
          <a:xfrm>
            <a:off x="6720840" y="4729293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>
                <a:solidFill>
                  <a:srgbClr val="16264A"/>
                </a:solidFill>
                <a:ea typeface="+mn-lt"/>
                <a:cs typeface="+mn-lt"/>
              </a:rPr>
              <a:t>A non-technical user guide + peer review</a:t>
            </a:r>
            <a:endParaRPr lang="en-US"/>
          </a:p>
        </p:txBody>
      </p:sp>
      <p:pic>
        <p:nvPicPr>
          <p:cNvPr id="24" name="Image 2" descr="/home/claude/dhs/assets2/icons/check.png">
            <a:extLst>
              <a:ext uri="{FF2B5EF4-FFF2-40B4-BE49-F238E27FC236}">
                <a16:creationId xmlns:a16="http://schemas.microsoft.com/office/drawing/2014/main" id="{A736BCF1-B1BD-F919-4CF5-70C524BCE0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3293805"/>
            <a:ext cx="256032" cy="256032"/>
          </a:xfrm>
          <a:prstGeom prst="rect">
            <a:avLst/>
          </a:prstGeom>
        </p:spPr>
      </p:pic>
      <p:pic>
        <p:nvPicPr>
          <p:cNvPr id="26" name="Image 3" descr="/home/claude/dhs/assets2/icons/check.png">
            <a:extLst>
              <a:ext uri="{FF2B5EF4-FFF2-40B4-BE49-F238E27FC236}">
                <a16:creationId xmlns:a16="http://schemas.microsoft.com/office/drawing/2014/main" id="{0FB1345D-BE3E-1A48-2B3E-C7C2665562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3805869"/>
            <a:ext cx="256032" cy="256032"/>
          </a:xfrm>
          <a:prstGeom prst="rect">
            <a:avLst/>
          </a:prstGeom>
        </p:spPr>
      </p:pic>
      <p:pic>
        <p:nvPicPr>
          <p:cNvPr id="28" name="Image 4" descr="/home/claude/dhs/assets2/icons/check.png">
            <a:extLst>
              <a:ext uri="{FF2B5EF4-FFF2-40B4-BE49-F238E27FC236}">
                <a16:creationId xmlns:a16="http://schemas.microsoft.com/office/drawing/2014/main" id="{D6DAF8CF-3713-EC4A-31C6-7AA871186A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4317933"/>
            <a:ext cx="256032" cy="256032"/>
          </a:xfrm>
          <a:prstGeom prst="rect">
            <a:avLst/>
          </a:prstGeom>
        </p:spPr>
      </p:pic>
      <p:pic>
        <p:nvPicPr>
          <p:cNvPr id="34" name="Image 4" descr="/home/claude/dhs/assets2/icons/check.png">
            <a:extLst>
              <a:ext uri="{FF2B5EF4-FFF2-40B4-BE49-F238E27FC236}">
                <a16:creationId xmlns:a16="http://schemas.microsoft.com/office/drawing/2014/main" id="{829EED07-4649-C3DE-548A-814E2E52F1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4794184"/>
            <a:ext cx="256032" cy="256032"/>
          </a:xfrm>
          <a:prstGeom prst="rect">
            <a:avLst/>
          </a:prstGeom>
        </p:spPr>
      </p:pic>
      <p:sp>
        <p:nvSpPr>
          <p:cNvPr id="91" name="FileCallout"/>
          <p:cNvSpPr/>
          <p:nvPr/>
        </p:nvSpPr>
        <p:spPr>
          <a:xfrm>
            <a:off x="502920" y="6040000"/>
            <a:ext cx="11183112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E7202"/>
                </a:solidFill>
                <a:latin typeface="Arial" pitchFamily="34" charset="0"/>
              </a:rPr>
              <a:t xml:space="preserve">Your files:  </a:t>
            </a:r>
            <a:r>
              <a:rPr lang="en-US" sz="1050">
                <a:solidFill>
                  <a:srgbClr val="16264A"/>
                </a:solidFill>
                <a:latin typeface="Consolas" pitchFamily="34" charset="0"/>
                <a:cs typeface="Consolas" pitchFamily="34" charset="0"/>
              </a:rPr>
              <a:t>Build5_Lab_Guide.md   ·   PRD_Quality_Rubric.md   ·   Doc_Generation_Prompt_Pack.md</a:t>
            </a:r>
          </a:p>
        </p:txBody>
      </p:sp>
    </p:spTree>
    <p:extLst>
      <p:ext uri="{BB962C8B-B14F-4D97-AF65-F5344CB8AC3E}">
        <p14:creationId xmlns:p14="http://schemas.microsoft.com/office/powerpoint/2010/main" val="2795166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141732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0" b="1">
                <a:solidFill>
                  <a:srgbClr val="2D7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0400"/>
          </a:p>
        </p:txBody>
      </p:sp>
      <p:sp>
        <p:nvSpPr>
          <p:cNvPr id="4" name="Text 1"/>
          <p:cNvSpPr/>
          <p:nvPr/>
        </p:nvSpPr>
        <p:spPr>
          <a:xfrm>
            <a:off x="530352" y="30632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>
                <a:solidFill>
                  <a:srgbClr val="1FB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  ·  2:55–3:40</a:t>
            </a:r>
            <a:endParaRPr lang="en-US" sz="1300"/>
          </a:p>
        </p:txBody>
      </p:sp>
      <p:sp>
        <p:nvSpPr>
          <p:cNvPr id="5" name="Text 2"/>
          <p:cNvSpPr/>
          <p:nvPr/>
        </p:nvSpPr>
        <p:spPr>
          <a:xfrm>
            <a:off x="502920" y="3429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&amp; Artifact Generation</a:t>
            </a:r>
            <a:endParaRPr lang="en-US" sz="4200"/>
          </a:p>
        </p:txBody>
      </p:sp>
      <p:sp>
        <p:nvSpPr>
          <p:cNvPr id="6" name="Text 3"/>
          <p:cNvSpPr/>
          <p:nvPr/>
        </p:nvSpPr>
        <p:spPr>
          <a:xfrm>
            <a:off x="512064" y="45720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AEB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the agent at the code and get a full suite — PRD, HLD, LLD, an architecture diagram, and a user guide — grounded in what’s really there.</a:t>
            </a:r>
            <a:endParaRPr lang="en-US" sz="1600"/>
          </a:p>
        </p:txBody>
      </p:sp>
      <p:sp>
        <p:nvSpPr>
          <p:cNvPr id="7" name="Text 4"/>
          <p:cNvSpPr/>
          <p:nvPr/>
        </p:nvSpPr>
        <p:spPr>
          <a:xfrm>
            <a:off x="50292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05–08, 2026  ·  The Leela Bhartiya City, Bengaluru</a:t>
            </a:r>
            <a:endParaRPr lang="en-US" sz="1100"/>
          </a:p>
        </p:txBody>
      </p:sp>
      <p:sp>
        <p:nvSpPr>
          <p:cNvPr id="8" name="Text 5"/>
          <p:cNvSpPr/>
          <p:nvPr/>
        </p:nvSpPr>
        <p:spPr>
          <a:xfrm>
            <a:off x="8450612" y="6533848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00" b="1">
                <a:solidFill>
                  <a:srgbClr val="3886F0"/>
                </a:solidFill>
                <a:latin typeface="Arial"/>
                <a:ea typeface="+mn-lt"/>
                <a:cs typeface="Arial"/>
              </a:rPr>
              <a:t>Human</a:t>
            </a:r>
            <a:r>
              <a:rPr lang="en-US" sz="1300">
                <a:solidFill>
                  <a:srgbClr val="777799"/>
                </a:solidFill>
                <a:latin typeface="Arial"/>
                <a:ea typeface="+mn-lt"/>
                <a:cs typeface="Arial"/>
              </a:rPr>
              <a:t> × </a:t>
            </a:r>
            <a:r>
              <a:rPr lang="en-US" sz="1300" b="1">
                <a:solidFill>
                  <a:srgbClr val="17B4AC"/>
                </a:solidFill>
                <a:latin typeface="Arial"/>
                <a:ea typeface="+mn-lt"/>
                <a:cs typeface="Arial"/>
              </a:rPr>
              <a:t>AI</a:t>
            </a:r>
            <a:endParaRPr lang="en-US" sz="1300">
              <a:solidFill>
                <a:srgbClr val="17B4AC"/>
              </a:solidFill>
              <a:latin typeface="Arial"/>
              <a:ea typeface="+mn-lt"/>
              <a:cs typeface="Arial"/>
            </a:endParaRPr>
          </a:p>
          <a:p>
            <a:pPr algn="r"/>
            <a:endParaRPr lang="en-US" sz="1300" b="1">
              <a:solidFill>
                <a:srgbClr val="FFFFFF"/>
              </a:solidFill>
              <a:latin typeface="Arial"/>
              <a:ea typeface="Calibri"/>
              <a:cs typeface="Arial"/>
            </a:endParaRPr>
          </a:p>
        </p:txBody>
      </p:sp>
      <p:pic>
        <p:nvPicPr>
          <p:cNvPr id="10" name="Picture 9" descr="preencoded.png">
            <a:extLst>
              <a:ext uri="{FF2B5EF4-FFF2-40B4-BE49-F238E27FC236}">
                <a16:creationId xmlns:a16="http://schemas.microsoft.com/office/drawing/2014/main" id="{B0152DA7-943D-E4FD-C21F-6FED3C2829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-176"/>
          <a:stretch>
            <a:fillRect/>
          </a:stretch>
        </p:blipFill>
        <p:spPr>
          <a:xfrm>
            <a:off x="6704013" y="481013"/>
            <a:ext cx="5483224" cy="54601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PRDs in minutes — by interview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12064" y="14173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fill a blank template alone — let the agent interview you.</a:t>
            </a:r>
            <a:endParaRPr lang="en-US" sz="1350"/>
          </a:p>
        </p:txBody>
      </p:sp>
      <p:sp>
        <p:nvSpPr>
          <p:cNvPr id="6" name="Shape 4"/>
          <p:cNvSpPr/>
          <p:nvPr/>
        </p:nvSpPr>
        <p:spPr>
          <a:xfrm>
            <a:off x="566928" y="2103120"/>
            <a:ext cx="146304" cy="146304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984248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Interview-style prompting
</a:t>
            </a:r>
            <a:r>
              <a:rPr lang="en-US" sz="13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asks the questions a good PM would; you just answer.</a:t>
            </a:r>
            <a:endParaRPr lang="en-US" sz="1600"/>
          </a:p>
        </p:txBody>
      </p:sp>
      <p:sp>
        <p:nvSpPr>
          <p:cNvPr id="8" name="Shape 6"/>
          <p:cNvSpPr/>
          <p:nvPr/>
        </p:nvSpPr>
        <p:spPr>
          <a:xfrm>
            <a:off x="566928" y="3054096"/>
            <a:ext cx="146304" cy="146304"/>
          </a:xfrm>
          <a:prstGeom prst="ellipse">
            <a:avLst/>
          </a:prstGeom>
          <a:solidFill>
            <a:srgbClr val="2D7F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2935224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conversation to a spec
</a:t>
            </a:r>
            <a:r>
              <a:rPr lang="en-US" sz="13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turns your answers into a structured, testable PRD.</a:t>
            </a:r>
            <a:endParaRPr lang="en-US" sz="1600"/>
          </a:p>
        </p:txBody>
      </p:sp>
      <p:sp>
        <p:nvSpPr>
          <p:cNvPr id="10" name="Shape 8"/>
          <p:cNvSpPr/>
          <p:nvPr/>
        </p:nvSpPr>
        <p:spPr>
          <a:xfrm>
            <a:off x="566928" y="4005072"/>
            <a:ext cx="146304" cy="146304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388620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Retrofit for existing apps
</a:t>
            </a:r>
            <a:r>
              <a:rPr lang="en-US" sz="13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it at TaskFlow; it reverse-engineers the PRD from the code.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>
          <a:xfrm>
            <a:off x="566928" y="4956048"/>
            <a:ext cx="146304" cy="146304"/>
          </a:xfrm>
          <a:prstGeom prst="ellipse">
            <a:avLst/>
          </a:prstGeom>
          <a:solidFill>
            <a:srgbClr val="2D7F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4837176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page, decision-ready
</a:t>
            </a:r>
            <a:r>
              <a:rPr lang="en-US" sz="13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Problem, users, goals, scope, success metrics — no fluff.</a:t>
            </a:r>
            <a:endParaRPr lang="en-US" sz="1600"/>
          </a:p>
        </p:txBody>
      </p:sp>
      <p:sp>
        <p:nvSpPr>
          <p:cNvPr id="14" name="Shape 12"/>
          <p:cNvSpPr/>
          <p:nvPr/>
        </p:nvSpPr>
        <p:spPr>
          <a:xfrm>
            <a:off x="8732520" y="2011680"/>
            <a:ext cx="2971800" cy="1691640"/>
          </a:xfrm>
          <a:prstGeom prst="roundRect">
            <a:avLst>
              <a:gd name="adj" fmla="val 4324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732520" y="212140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>
                <a:solidFill>
                  <a:srgbClr val="2D7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pg</a:t>
            </a:r>
            <a:endParaRPr lang="en-US" sz="5000"/>
          </a:p>
        </p:txBody>
      </p:sp>
      <p:sp>
        <p:nvSpPr>
          <p:cNvPr id="16" name="Text 14"/>
          <p:cNvSpPr/>
          <p:nvPr/>
        </p:nvSpPr>
        <p:spPr>
          <a:xfrm>
            <a:off x="8823960" y="299923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— decision-ready</a:t>
            </a:r>
            <a:endParaRPr lang="en-US" sz="1250"/>
          </a:p>
        </p:txBody>
      </p:sp>
      <p:sp>
        <p:nvSpPr>
          <p:cNvPr id="17" name="Shape 15"/>
          <p:cNvSpPr/>
          <p:nvPr/>
        </p:nvSpPr>
        <p:spPr>
          <a:xfrm>
            <a:off x="8732520" y="3840480"/>
            <a:ext cx="2971800" cy="1691640"/>
          </a:xfrm>
          <a:prstGeom prst="roundRect">
            <a:avLst>
              <a:gd name="adj" fmla="val 4324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732520" y="395020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>
                <a:solidFill>
                  <a:srgbClr val="1FB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</a:t>
            </a:r>
            <a:endParaRPr lang="en-US" sz="5000"/>
          </a:p>
        </p:txBody>
      </p:sp>
      <p:sp>
        <p:nvSpPr>
          <p:cNvPr id="19" name="Text 17"/>
          <p:cNvSpPr/>
          <p:nvPr/>
        </p:nvSpPr>
        <p:spPr>
          <a:xfrm>
            <a:off x="8823960" y="482803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draft — not days</a:t>
            </a:r>
            <a:endParaRPr lang="en-US" sz="1250"/>
          </a:p>
        </p:txBody>
      </p:sp>
      <p:sp>
        <p:nvSpPr>
          <p:cNvPr id="21" name="Text 18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3" name="Picture 22" descr="preencoded.png">
            <a:extLst>
              <a:ext uri="{FF2B5EF4-FFF2-40B4-BE49-F238E27FC236}">
                <a16:creationId xmlns:a16="http://schemas.microsoft.com/office/drawing/2014/main" id="{92BD9C5A-DB0A-BB9B-F72F-CE9A5CC207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 from the code — not from imagination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5532120" cy="4160520"/>
          </a:xfrm>
          <a:prstGeom prst="roundRect">
            <a:avLst>
              <a:gd name="adj" fmla="val 1758"/>
            </a:avLst>
          </a:prstGeom>
          <a:blipFill>
            <a:blip r:embed="rId70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355080" y="16459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the agent at the real repo; the docs describe what’s actually there.</a:t>
            </a:r>
            <a:endParaRPr lang="en-US" sz="2000"/>
          </a:p>
        </p:txBody>
      </p:sp>
      <p:sp>
        <p:nvSpPr>
          <p:cNvPr id="9" name="Text 6"/>
          <p:cNvSpPr/>
          <p:nvPr/>
        </p:nvSpPr>
        <p:spPr>
          <a:xfrm>
            <a:off x="6355080" y="2395728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Hand-written docs drift the moment code changes. Generating from the codebase grounds every doc in reality — and lets you regenerate on every change.</a:t>
            </a:r>
            <a:endParaRPr lang="en-US" sz="1400"/>
          </a:p>
        </p:txBody>
      </p:sp>
      <p:pic>
        <p:nvPicPr>
          <p:cNvPr id="10" name="Image 1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53872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20840" y="34838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repo, then write — no guessing</a:t>
            </a:r>
            <a:endParaRPr lang="en-US" sz="1350"/>
          </a:p>
        </p:txBody>
      </p:sp>
      <p:pic>
        <p:nvPicPr>
          <p:cNvPr id="12" name="Image 2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050792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720840" y="399592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traces back to real code</a:t>
            </a:r>
            <a:endParaRPr lang="en-US" sz="1350"/>
          </a:p>
        </p:txBody>
      </p:sp>
      <p:pic>
        <p:nvPicPr>
          <p:cNvPr id="14" name="Image 3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562856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20840" y="450799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Regenerate on change → no drift</a:t>
            </a:r>
            <a:endParaRPr lang="en-US" sz="1350"/>
          </a:p>
        </p:txBody>
      </p:sp>
      <p:pic>
        <p:nvPicPr>
          <p:cNvPr id="16" name="Image 4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5074920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720840" y="502005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them alive in CI (that’s M7)</a:t>
            </a:r>
            <a:endParaRPr lang="en-US" sz="1350"/>
          </a:p>
        </p:txBody>
      </p:sp>
      <p:sp>
        <p:nvSpPr>
          <p:cNvPr id="19" name="Text 11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0" name="Picture 19" descr="preencoded.png">
            <a:extLst>
              <a:ext uri="{FF2B5EF4-FFF2-40B4-BE49-F238E27FC236}">
                <a16:creationId xmlns:a16="http://schemas.microsoft.com/office/drawing/2014/main" id="{8772056E-CEB3-D1AE-6154-FCD1CDCF6E0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20040" y="9144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0" b="1">
                <a:solidFill>
                  <a:srgbClr val="2D7F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5000"/>
          </a:p>
        </p:txBody>
      </p:sp>
      <p:sp>
        <p:nvSpPr>
          <p:cNvPr id="4" name="Text 1"/>
          <p:cNvSpPr/>
          <p:nvPr/>
        </p:nvSpPr>
        <p:spPr>
          <a:xfrm>
            <a:off x="868680" y="2286000"/>
            <a:ext cx="7040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 that write themselves — and stay true to the code.</a:t>
            </a:r>
            <a:endParaRPr lang="en-US" sz="3400"/>
          </a:p>
        </p:txBody>
      </p:sp>
      <p:sp>
        <p:nvSpPr>
          <p:cNvPr id="5" name="Shape 2"/>
          <p:cNvSpPr/>
          <p:nvPr/>
        </p:nvSpPr>
        <p:spPr>
          <a:xfrm>
            <a:off x="914400" y="4800600"/>
            <a:ext cx="457200" cy="45720"/>
          </a:xfrm>
          <a:prstGeom prst="rect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14400" y="49377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>
                <a:solidFill>
                  <a:srgbClr val="AEB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from the real codebase, not from imagination — and regenerated whenever the code changes, so they never go stale.</a:t>
            </a:r>
            <a:endParaRPr lang="en-US" sz="1500"/>
          </a:p>
        </p:txBody>
      </p:sp>
      <p:sp>
        <p:nvSpPr>
          <p:cNvPr id="7" name="Text 4"/>
          <p:cNvSpPr/>
          <p:nvPr/>
        </p:nvSpPr>
        <p:spPr>
          <a:xfrm>
            <a:off x="50292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05–08, 2026  ·  The Leela Bhartiya City, Bengaluru</a:t>
            </a:r>
            <a:endParaRPr lang="en-US" sz="1100"/>
          </a:p>
        </p:txBody>
      </p:sp>
      <p:sp>
        <p:nvSpPr>
          <p:cNvPr id="8" name="Text 5"/>
          <p:cNvSpPr/>
          <p:nvPr/>
        </p:nvSpPr>
        <p:spPr>
          <a:xfrm>
            <a:off x="8229600" y="6400800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00" b="1">
                <a:solidFill>
                  <a:srgbClr val="2D7FF9"/>
                </a:solidFill>
                <a:latin typeface="Arial"/>
                <a:ea typeface="Arial" pitchFamily="34" charset="-122"/>
                <a:cs typeface="Arial"/>
              </a:rPr>
              <a:t>Human</a:t>
            </a:r>
            <a:r>
              <a:rPr lang="en-US" sz="1300">
                <a:solidFill>
                  <a:srgbClr val="9AA4C0"/>
                </a:solidFill>
                <a:latin typeface="Arial"/>
                <a:ea typeface="Arial" pitchFamily="34" charset="-122"/>
                <a:cs typeface="Arial"/>
              </a:rPr>
              <a:t> ×</a:t>
            </a:r>
            <a:r>
              <a:rPr lang="en-US" sz="1300" b="1">
                <a:solidFill>
                  <a:srgbClr val="1FB6A6"/>
                </a:solidFill>
                <a:latin typeface="Arial"/>
                <a:ea typeface="Arial" pitchFamily="34" charset="-122"/>
                <a:cs typeface="Arial"/>
              </a:rPr>
              <a:t>AI</a:t>
            </a:r>
            <a:endParaRPr lang="en-US" sz="1300">
              <a:solidFill>
                <a:srgbClr val="000000"/>
              </a:solidFill>
              <a:latin typeface="Arial"/>
              <a:ea typeface="Arial" pitchFamily="34" charset="-122"/>
              <a:cs typeface="Arial"/>
            </a:endParaRPr>
          </a:p>
        </p:txBody>
      </p:sp>
      <p:pic>
        <p:nvPicPr>
          <p:cNvPr id="10" name="Picture 9" descr="preencoded.png">
            <a:extLst>
              <a:ext uri="{FF2B5EF4-FFF2-40B4-BE49-F238E27FC236}">
                <a16:creationId xmlns:a16="http://schemas.microsoft.com/office/drawing/2014/main" id="{7415385C-DFCF-9C52-6875-301347B05C5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-176"/>
          <a:stretch>
            <a:fillRect/>
          </a:stretch>
        </p:blipFill>
        <p:spPr>
          <a:xfrm>
            <a:off x="7413096" y="650347"/>
            <a:ext cx="5483224" cy="546016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Build #5 pipeline — the whole suite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FB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1421892" y="260604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B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dhs/assets2/icons/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628" y="2798064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</a:t>
            </a:r>
            <a:endParaRPr lang="en-US" sz="1800"/>
          </a:p>
        </p:txBody>
      </p:sp>
      <p:sp>
        <p:nvSpPr>
          <p:cNvPr id="10" name="Text 7"/>
          <p:cNvSpPr/>
          <p:nvPr/>
        </p:nvSpPr>
        <p:spPr>
          <a:xfrm>
            <a:off x="731520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Claude Code at your TaskFlow repos (web + service).</a:t>
            </a:r>
            <a:endParaRPr lang="en-US" sz="1200"/>
          </a:p>
        </p:txBody>
      </p:sp>
      <p:pic>
        <p:nvPicPr>
          <p:cNvPr id="11" name="Image 1" descr="/home/claude/dhs/assets2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8396" y="3429000"/>
            <a:ext cx="274320" cy="274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502152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3730752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D7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/>
          </a:p>
        </p:txBody>
      </p:sp>
      <p:sp>
        <p:nvSpPr>
          <p:cNvPr id="14" name="Shape 10"/>
          <p:cNvSpPr/>
          <p:nvPr/>
        </p:nvSpPr>
        <p:spPr>
          <a:xfrm>
            <a:off x="4421124" y="260604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D7F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/home/claude/dhs/assets2/icons/netwo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4860" y="2798064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639312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800"/>
          </a:p>
        </p:txBody>
      </p:sp>
      <p:sp>
        <p:nvSpPr>
          <p:cNvPr id="17" name="Text 12"/>
          <p:cNvSpPr/>
          <p:nvPr/>
        </p:nvSpPr>
        <p:spPr>
          <a:xfrm>
            <a:off x="3730752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PRD, HLD, LLD and a user guide — all from the code.</a:t>
            </a:r>
            <a:endParaRPr lang="en-US" sz="1200"/>
          </a:p>
        </p:txBody>
      </p:sp>
      <p:pic>
        <p:nvPicPr>
          <p:cNvPr id="18" name="Image 3" descr="/home/claude/dhs/assets2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7628" y="3429000"/>
            <a:ext cx="274320" cy="27432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501384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6729984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FB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/>
          </a:p>
        </p:txBody>
      </p:sp>
      <p:sp>
        <p:nvSpPr>
          <p:cNvPr id="21" name="Shape 15"/>
          <p:cNvSpPr/>
          <p:nvPr/>
        </p:nvSpPr>
        <p:spPr>
          <a:xfrm>
            <a:off x="7420356" y="260604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B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4" descr="/home/claude/dhs/assets2/icons/co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4092" y="2798064"/>
            <a:ext cx="420624" cy="42062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638544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</a:t>
            </a:r>
            <a:endParaRPr lang="en-US" sz="1800"/>
          </a:p>
        </p:txBody>
      </p:sp>
      <p:sp>
        <p:nvSpPr>
          <p:cNvPr id="24" name="Text 17"/>
          <p:cNvSpPr/>
          <p:nvPr/>
        </p:nvSpPr>
        <p:spPr>
          <a:xfrm>
            <a:off x="6729984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architecture diagram in Mermaid — render it live.</a:t>
            </a:r>
            <a:endParaRPr lang="en-US" sz="1200"/>
          </a:p>
        </p:txBody>
      </p:sp>
      <p:pic>
        <p:nvPicPr>
          <p:cNvPr id="25" name="Image 5" descr="/home/claude/dhs/assets2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6860" y="3429000"/>
            <a:ext cx="274320" cy="27432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9500616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19"/>
          <p:cNvSpPr/>
          <p:nvPr/>
        </p:nvSpPr>
        <p:spPr>
          <a:xfrm>
            <a:off x="9729216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D7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/>
          </a:p>
        </p:txBody>
      </p:sp>
      <p:sp>
        <p:nvSpPr>
          <p:cNvPr id="28" name="Shape 20"/>
          <p:cNvSpPr/>
          <p:nvPr/>
        </p:nvSpPr>
        <p:spPr>
          <a:xfrm>
            <a:off x="10419588" y="260604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D7F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6" descr="/home/claude/dhs/assets2/icons/shie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93324" y="2798064"/>
            <a:ext cx="420624" cy="42062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637776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Peer-review</a:t>
            </a:r>
            <a:endParaRPr lang="en-US" sz="1800"/>
          </a:p>
        </p:txBody>
      </p:sp>
      <p:sp>
        <p:nvSpPr>
          <p:cNvPr id="31" name="Text 22"/>
          <p:cNvSpPr/>
          <p:nvPr/>
        </p:nvSpPr>
        <p:spPr>
          <a:xfrm>
            <a:off x="9729216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 neighbour’s PRD against the quality rubric.</a:t>
            </a:r>
            <a:endParaRPr lang="en-US" sz="1200"/>
          </a:p>
        </p:txBody>
      </p:sp>
      <p:sp>
        <p:nvSpPr>
          <p:cNvPr id="32" name="Text 23"/>
          <p:cNvSpPr/>
          <p:nvPr/>
        </p:nvSpPr>
        <p:spPr>
          <a:xfrm>
            <a:off x="502920" y="54864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 suite that used to take a team days — grounded in your real code, in 25 minutes.</a:t>
            </a:r>
            <a:endParaRPr lang="en-US" sz="1350"/>
          </a:p>
        </p:txBody>
      </p:sp>
      <p:sp>
        <p:nvSpPr>
          <p:cNvPr id="34" name="Text 24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35" name="Picture 34" descr="preencoded.png">
            <a:extLst>
              <a:ext uri="{FF2B5EF4-FFF2-40B4-BE49-F238E27FC236}">
                <a16:creationId xmlns:a16="http://schemas.microsoft.com/office/drawing/2014/main" id="{63E227BD-095E-2686-5CEA-4378259DE8D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HLD &amp; LLD — grounded in the codebase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5532120" cy="4160520"/>
          </a:xfrm>
          <a:prstGeom prst="roundRect">
            <a:avLst>
              <a:gd name="adj" fmla="val 1758"/>
            </a:avLst>
          </a:prstGeom>
          <a:blipFill>
            <a:blip r:embed="rId70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355080" y="16459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altitudes of design — both read from the actual system.</a:t>
            </a:r>
            <a:endParaRPr lang="en-US" sz="2000"/>
          </a:p>
        </p:txBody>
      </p:sp>
      <p:sp>
        <p:nvSpPr>
          <p:cNvPr id="9" name="Text 6"/>
          <p:cNvSpPr/>
          <p:nvPr/>
        </p:nvSpPr>
        <p:spPr>
          <a:xfrm>
            <a:off x="6355080" y="2395728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HLD tells the architecture story — components, data flow, choices. The LLD zooms into one service: its modules, functions and contracts. Both generated from code.</a:t>
            </a:r>
            <a:endParaRPr lang="en-US" sz="1400"/>
          </a:p>
        </p:txBody>
      </p:sp>
      <p:pic>
        <p:nvPicPr>
          <p:cNvPr id="10" name="Image 1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53872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20840" y="34838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HLD: components, boundaries, data flow</a:t>
            </a:r>
            <a:endParaRPr lang="en-US" sz="1350"/>
          </a:p>
        </p:txBody>
      </p:sp>
      <p:pic>
        <p:nvPicPr>
          <p:cNvPr id="12" name="Image 2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050792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720840" y="399592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LLD: one service, module by module</a:t>
            </a:r>
            <a:endParaRPr lang="en-US" sz="1350"/>
          </a:p>
        </p:txBody>
      </p:sp>
      <p:pic>
        <p:nvPicPr>
          <p:cNvPr id="14" name="Image 3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562856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20840" y="450799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from code — not from memory</a:t>
            </a:r>
            <a:endParaRPr lang="en-US" sz="1350"/>
          </a:p>
        </p:txBody>
      </p:sp>
      <p:pic>
        <p:nvPicPr>
          <p:cNvPr id="16" name="Image 4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5074920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720840" y="502005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design a new hire can actually follow</a:t>
            </a:r>
            <a:endParaRPr lang="en-US" sz="1350"/>
          </a:p>
        </p:txBody>
      </p:sp>
      <p:sp>
        <p:nvSpPr>
          <p:cNvPr id="19" name="Text 11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0" name="Picture 19" descr="preencoded.png">
            <a:extLst>
              <a:ext uri="{FF2B5EF4-FFF2-40B4-BE49-F238E27FC236}">
                <a16:creationId xmlns:a16="http://schemas.microsoft.com/office/drawing/2014/main" id="{8772056E-CEB3-D1AE-6154-FCD1CDCF6E0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diagrams that reflect the real system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5532120" cy="4160520"/>
          </a:xfrm>
          <a:prstGeom prst="roundRect">
            <a:avLst>
              <a:gd name="adj" fmla="val 1758"/>
            </a:avLst>
          </a:prstGeom>
          <a:blipFill>
            <a:blip r:embed="rId70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355080" y="16459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Diagrams as code — generated, versioned, regenerated on change.</a:t>
            </a:r>
            <a:endParaRPr lang="en-US" sz="2000"/>
          </a:p>
        </p:txBody>
      </p:sp>
      <p:sp>
        <p:nvSpPr>
          <p:cNvPr id="9" name="Text 6"/>
          <p:cNvSpPr/>
          <p:nvPr/>
        </p:nvSpPr>
        <p:spPr>
          <a:xfrm>
            <a:off x="6355080" y="2395728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Mermaid renders live in Claude.ai artifacts, GitHub and VS Code; C4 is the model, PlantUML/Structurizr the heavier tool. Text source means the diagram tracks the system.</a:t>
            </a:r>
            <a:endParaRPr lang="en-US" sz="1400"/>
          </a:p>
        </p:txBody>
      </p:sp>
      <p:pic>
        <p:nvPicPr>
          <p:cNvPr id="10" name="Image 1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53872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20840" y="34838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Mermaid: text → diagram, renders everywhere</a:t>
            </a:r>
            <a:endParaRPr lang="en-US" sz="1350"/>
          </a:p>
        </p:txBody>
      </p:sp>
      <p:pic>
        <p:nvPicPr>
          <p:cNvPr id="12" name="Image 2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050792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720840" y="399592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C4: context → container → component</a:t>
            </a:r>
            <a:endParaRPr lang="en-US" sz="1350"/>
          </a:p>
        </p:txBody>
      </p:sp>
      <p:pic>
        <p:nvPicPr>
          <p:cNvPr id="14" name="Image 3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562856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20840" y="450799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PlantUML / Structurizr for formal C4</a:t>
            </a:r>
            <a:endParaRPr lang="en-US" sz="1350"/>
          </a:p>
        </p:txBody>
      </p:sp>
      <p:pic>
        <p:nvPicPr>
          <p:cNvPr id="16" name="Image 4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5074920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720840" y="502005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Regenerate from code — no stale boxes</a:t>
            </a:r>
            <a:endParaRPr lang="en-US" sz="1350"/>
          </a:p>
        </p:txBody>
      </p:sp>
      <p:sp>
        <p:nvSpPr>
          <p:cNvPr id="19" name="Text 11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0" name="Picture 19" descr="preencoded.png">
            <a:extLst>
              <a:ext uri="{FF2B5EF4-FFF2-40B4-BE49-F238E27FC236}">
                <a16:creationId xmlns:a16="http://schemas.microsoft.com/office/drawing/2014/main" id="{8772056E-CEB3-D1AE-6154-FCD1CDCF6E0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review — score it against a rubric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5532120" cy="4160520"/>
          </a:xfrm>
          <a:prstGeom prst="roundRect">
            <a:avLst>
              <a:gd name="adj" fmla="val 1758"/>
            </a:avLst>
          </a:prstGeom>
          <a:blipFill>
            <a:blip r:embed="rId70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355080" y="16459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drafts fast; a human rubric keeps the quality honest.</a:t>
            </a:r>
            <a:endParaRPr lang="en-US" sz="2000"/>
          </a:p>
        </p:txBody>
      </p:sp>
      <p:sp>
        <p:nvSpPr>
          <p:cNvPr id="9" name="Text 6"/>
          <p:cNvSpPr/>
          <p:nvPr/>
        </p:nvSpPr>
        <p:spPr>
          <a:xfrm>
            <a:off x="6355080" y="2395728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PRDs with a neighbour and score theirs: is the problem clear, the scope bounded, success measurable? Generation is cheap — your judgment is the value.</a:t>
            </a:r>
            <a:endParaRPr lang="en-US" sz="1400"/>
          </a:p>
        </p:txBody>
      </p:sp>
      <p:pic>
        <p:nvPicPr>
          <p:cNvPr id="10" name="Image 1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53872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20840" y="34838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problem &amp; target user clear?</a:t>
            </a:r>
            <a:endParaRPr lang="en-US" sz="1350"/>
          </a:p>
        </p:txBody>
      </p:sp>
      <p:pic>
        <p:nvPicPr>
          <p:cNvPr id="12" name="Image 2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050792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720840" y="399592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scope bounded — in and out?</a:t>
            </a:r>
            <a:endParaRPr lang="en-US" sz="1350"/>
          </a:p>
        </p:txBody>
      </p:sp>
      <p:pic>
        <p:nvPicPr>
          <p:cNvPr id="14" name="Image 3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562856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20840" y="450799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success measurable?</a:t>
            </a:r>
            <a:endParaRPr lang="en-US" sz="1350"/>
          </a:p>
        </p:txBody>
      </p:sp>
      <p:pic>
        <p:nvPicPr>
          <p:cNvPr id="16" name="Image 4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5074920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720840" y="502005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grounded in the real app?</a:t>
            </a:r>
            <a:endParaRPr lang="en-US" sz="1350"/>
          </a:p>
        </p:txBody>
      </p:sp>
      <p:sp>
        <p:nvSpPr>
          <p:cNvPr id="19" name="Text 11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0" name="Picture 19" descr="preencoded.png">
            <a:extLst>
              <a:ext uri="{FF2B5EF4-FFF2-40B4-BE49-F238E27FC236}">
                <a16:creationId xmlns:a16="http://schemas.microsoft.com/office/drawing/2014/main" id="{8772056E-CEB3-D1AE-6154-FCD1CDCF6E0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just generated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5532120" cy="4160520"/>
          </a:xfrm>
          <a:prstGeom prst="roundRect">
            <a:avLst>
              <a:gd name="adj" fmla="val 1758"/>
            </a:avLst>
          </a:prstGeom>
          <a:blipFill>
            <a:blip r:embed="rId70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355080" y="16459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complete, code-true documentation suite for TaskFlow.</a:t>
            </a:r>
            <a:endParaRPr lang="en-US" sz="2000"/>
          </a:p>
        </p:txBody>
      </p:sp>
      <p:sp>
        <p:nvSpPr>
          <p:cNvPr id="9" name="Text 6"/>
          <p:cNvSpPr/>
          <p:nvPr/>
        </p:nvSpPr>
        <p:spPr>
          <a:xfrm>
            <a:off x="6355080" y="2395728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25 minutes you produced what usually takes a team days — every document grounded in the code you built, accurate today and regenerable tomorrow.</a:t>
            </a:r>
            <a:endParaRPr lang="en-US" sz="1400"/>
          </a:p>
        </p:txBody>
      </p:sp>
      <p:pic>
        <p:nvPicPr>
          <p:cNvPr id="10" name="Image 1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53872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20840" y="34838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1-page PRD (retrofit from the code)</a:t>
            </a:r>
            <a:endParaRPr lang="en-US" sz="1350"/>
          </a:p>
        </p:txBody>
      </p:sp>
      <p:pic>
        <p:nvPicPr>
          <p:cNvPr id="12" name="Image 2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050792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720840" y="399592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HLD with an architecture diagram</a:t>
            </a:r>
            <a:endParaRPr lang="en-US" sz="1350"/>
          </a:p>
        </p:txBody>
      </p:sp>
      <p:pic>
        <p:nvPicPr>
          <p:cNvPr id="14" name="Image 3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562856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20840" y="450799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LLD for the notifications service</a:t>
            </a:r>
            <a:endParaRPr lang="en-US" sz="1350"/>
          </a:p>
        </p:txBody>
      </p:sp>
      <p:pic>
        <p:nvPicPr>
          <p:cNvPr id="16" name="Image 4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5074920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720840" y="502005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non-technical user guide</a:t>
            </a:r>
            <a:endParaRPr lang="en-US" sz="1350"/>
          </a:p>
        </p:txBody>
      </p:sp>
      <p:sp>
        <p:nvSpPr>
          <p:cNvPr id="19" name="Text 11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0" name="Picture 19" descr="preencoded.png">
            <a:extLst>
              <a:ext uri="{FF2B5EF4-FFF2-40B4-BE49-F238E27FC236}">
                <a16:creationId xmlns:a16="http://schemas.microsoft.com/office/drawing/2014/main" id="{8772056E-CEB3-D1AE-6154-FCD1CDCF6E0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guides &amp; docs at scale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12064" y="14173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for every audience — generated, and kept alive.</a:t>
            </a:r>
            <a:endParaRPr lang="en-US" sz="1350"/>
          </a:p>
        </p:txBody>
      </p:sp>
      <p:sp>
        <p:nvSpPr>
          <p:cNvPr id="6" name="Shape 4"/>
          <p:cNvSpPr/>
          <p:nvPr/>
        </p:nvSpPr>
        <p:spPr>
          <a:xfrm>
            <a:off x="566928" y="2103120"/>
            <a:ext cx="146304" cy="146304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984248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Non-technical user guides
</a:t>
            </a:r>
            <a:r>
              <a:rPr lang="en-US" sz="13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how-tos from the same codebase — written for real users.</a:t>
            </a:r>
            <a:endParaRPr lang="en-US" sz="1600"/>
          </a:p>
        </p:txBody>
      </p:sp>
      <p:sp>
        <p:nvSpPr>
          <p:cNvPr id="8" name="Shape 6"/>
          <p:cNvSpPr/>
          <p:nvPr/>
        </p:nvSpPr>
        <p:spPr>
          <a:xfrm>
            <a:off x="566928" y="3054096"/>
            <a:ext cx="146304" cy="146304"/>
          </a:xfrm>
          <a:prstGeom prst="ellipse">
            <a:avLst/>
          </a:prstGeom>
          <a:solidFill>
            <a:srgbClr val="2D7F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2935224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Docs-from-code
</a:t>
            </a:r>
            <a:r>
              <a:rPr lang="en-US" sz="13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READMEs, API docs and onboarding guides generated from the source.</a:t>
            </a:r>
            <a:endParaRPr lang="en-US" sz="1600"/>
          </a:p>
        </p:txBody>
      </p:sp>
      <p:sp>
        <p:nvSpPr>
          <p:cNvPr id="10" name="Shape 8"/>
          <p:cNvSpPr/>
          <p:nvPr/>
        </p:nvSpPr>
        <p:spPr>
          <a:xfrm>
            <a:off x="566928" y="4005072"/>
            <a:ext cx="146304" cy="146304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388620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Changelogs &amp; release notes
</a:t>
            </a:r>
            <a:r>
              <a:rPr lang="en-US" sz="13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Summarized from commits and PRs — your M5 conventions apply.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>
          <a:xfrm>
            <a:off x="566928" y="4956048"/>
            <a:ext cx="146304" cy="146304"/>
          </a:xfrm>
          <a:prstGeom prst="ellipse">
            <a:avLst/>
          </a:prstGeom>
          <a:solidFill>
            <a:srgbClr val="2D7F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4837176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docs alive in CI
</a:t>
            </a:r>
            <a:r>
              <a:rPr lang="en-US" sz="13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Regenerate on every merge so docs never lag the code (M7).</a:t>
            </a:r>
            <a:endParaRPr lang="en-US" sz="1600"/>
          </a:p>
        </p:txBody>
      </p:sp>
      <p:sp>
        <p:nvSpPr>
          <p:cNvPr id="14" name="Shape 12"/>
          <p:cNvSpPr/>
          <p:nvPr/>
        </p:nvSpPr>
        <p:spPr>
          <a:xfrm>
            <a:off x="8732520" y="2011680"/>
            <a:ext cx="2971800" cy="1691640"/>
          </a:xfrm>
          <a:prstGeom prst="roundRect">
            <a:avLst>
              <a:gd name="adj" fmla="val 4324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732520" y="212140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>
                <a:solidFill>
                  <a:srgbClr val="2D7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5000"/>
          </a:p>
        </p:txBody>
      </p:sp>
      <p:sp>
        <p:nvSpPr>
          <p:cNvPr id="16" name="Text 14"/>
          <p:cNvSpPr/>
          <p:nvPr/>
        </p:nvSpPr>
        <p:spPr>
          <a:xfrm>
            <a:off x="8823960" y="299923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types, one source of truth</a:t>
            </a:r>
            <a:endParaRPr lang="en-US" sz="1250"/>
          </a:p>
        </p:txBody>
      </p:sp>
      <p:sp>
        <p:nvSpPr>
          <p:cNvPr id="17" name="Shape 15"/>
          <p:cNvSpPr/>
          <p:nvPr/>
        </p:nvSpPr>
        <p:spPr>
          <a:xfrm>
            <a:off x="8732520" y="3840480"/>
            <a:ext cx="2971800" cy="1691640"/>
          </a:xfrm>
          <a:prstGeom prst="roundRect">
            <a:avLst>
              <a:gd name="adj" fmla="val 4324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732520" y="395020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>
                <a:solidFill>
                  <a:srgbClr val="1FB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</a:t>
            </a:r>
            <a:endParaRPr lang="en-US" sz="5000"/>
          </a:p>
        </p:txBody>
      </p:sp>
      <p:sp>
        <p:nvSpPr>
          <p:cNvPr id="19" name="Text 17"/>
          <p:cNvSpPr/>
          <p:nvPr/>
        </p:nvSpPr>
        <p:spPr>
          <a:xfrm>
            <a:off x="8823960" y="482803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every doc current</a:t>
            </a:r>
            <a:endParaRPr lang="en-US" sz="1250"/>
          </a:p>
        </p:txBody>
      </p:sp>
      <p:sp>
        <p:nvSpPr>
          <p:cNvPr id="21" name="Text 18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3" name="Picture 22" descr="preencoded.png">
            <a:extLst>
              <a:ext uri="{FF2B5EF4-FFF2-40B4-BE49-F238E27FC236}">
                <a16:creationId xmlns:a16="http://schemas.microsoft.com/office/drawing/2014/main" id="{92BD9C5A-DB0A-BB9B-F72F-CE9A5CC207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 — your files &amp; the flow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3" name="Picture 22" descr="preencoded.png">
            <a:extLst>
              <a:ext uri="{FF2B5EF4-FFF2-40B4-BE49-F238E27FC236}">
                <a16:creationId xmlns:a16="http://schemas.microsoft.com/office/drawing/2014/main" id="{92BD9C5A-DB0A-BB9B-F72F-CE9A5CC207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  <p:graphicFrame>
        <p:nvGraphicFramePr>
          <p:cNvPr id="210" name="Files"/>
          <p:cNvGraphicFramePr>
            <a:graphicFrameLocks noGrp="1"/>
          </p:cNvGraphicFramePr>
          <p:nvPr/>
        </p:nvGraphicFramePr>
        <p:xfrm>
          <a:off x="502920" y="1620000"/>
          <a:ext cx="11183112" cy="3460000"/>
        </p:xfrm>
        <a:graphic>
          <a:graphicData uri="http://schemas.openxmlformats.org/drawingml/2006/table">
            <a:tbl>
              <a:tblPr firstRow="1" bandRow="1"/>
              <a:tblGrid>
                <a:gridCol w="3950000"/>
                <a:gridCol w="3616556"/>
                <a:gridCol w="3616556"/>
              </a:tblGrid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File</a:t>
                      </a:r>
                    </a:p>
                  </a:txBody>
                  <a:tcPr marL="82296" marR="82296" marT="45720" marB="45720" anchor="ctr">
                    <a:solidFill>
                      <a:srgbClr val="0F22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What it is</a:t>
                      </a:r>
                    </a:p>
                  </a:txBody>
                  <a:tcPr marL="82296" marR="82296" marT="45720" marB="45720" anchor="ctr">
                    <a:solidFill>
                      <a:srgbClr val="0F22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When you use it</a:t>
                      </a:r>
                    </a:p>
                  </a:txBody>
                  <a:tcPr marL="82296" marR="82296" marT="45720" marB="45720" anchor="ctr">
                    <a:solidFill>
                      <a:srgbClr val="0F2247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Consolas" pitchFamily="34" charset="0"/>
                          <a:cs typeface="Consolas" pitchFamily="34" charset="0"/>
                        </a:rPr>
                        <a:t>Build5_Lab_Guide.md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Step-by-step Build #5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16264A"/>
                          </a:solidFill>
                          <a:latin typeface="Calibri" pitchFamily="34" charset="0"/>
                          <a:cs typeface="Calibri" pitchFamily="34" charset="0"/>
                        </a:rPr>
                        <a:t>① Follow during the lab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Consolas" pitchFamily="34" charset="0"/>
                          <a:cs typeface="Consolas" pitchFamily="34" charset="0"/>
                        </a:rPr>
                        <a:t>PRD_Quality_Rubric.md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Scoring rubric for peer review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16264A"/>
                          </a:solidFill>
                          <a:latin typeface="Calibri" pitchFamily="34" charset="0"/>
                          <a:cs typeface="Calibri" pitchFamily="34" charset="0"/>
                        </a:rPr>
                        <a:t>② Use to review a neighbour’s PRD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Consolas" pitchFamily="34" charset="0"/>
                          <a:cs typeface="Consolas" pitchFamily="34" charset="0"/>
                        </a:rPr>
                        <a:t>Doc_Generation_Prompt_Pack.md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Prompts for PRD/HLD/LLD/diagram/guide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16264A"/>
                          </a:solidFill>
                          <a:latin typeface="Calibri" pitchFamily="34" charset="0"/>
                          <a:cs typeface="Calibri" pitchFamily="34" charset="0"/>
                        </a:rPr>
                        <a:t>Keep open while generating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Consolas" pitchFamily="34" charset="0"/>
                          <a:cs typeface="Consolas" pitchFamily="34" charset="0"/>
                        </a:rPr>
                        <a:t>examples/  (PRD · HLD · LLD ·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A full TaskFlow doc suite —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16264A"/>
                          </a:solidFill>
                          <a:latin typeface="Calibri" pitchFamily="34" charset="0"/>
                          <a:cs typeface="Calibri" pitchFamily="34" charset="0"/>
                        </a:rPr>
                        <a:t>“What good looks like” — compare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Consolas" pitchFamily="34" charset="0"/>
                          <a:cs typeface="Consolas" pitchFamily="34" charset="0"/>
                        </a:rPr>
                        <a:t>   diagram · user-guide)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ready-made reference examples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16264A"/>
                          </a:solidFill>
                          <a:latin typeface="Calibri" pitchFamily="34" charset="0"/>
                          <a:cs typeface="Calibri" pitchFamily="34" charset="0"/>
                        </a:rPr>
                        <a:t>your output against these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Debrief — documentation is no longer the bottleneck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12064" y="14173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thing teams always skip is now the cheapest thing to produce.</a:t>
            </a:r>
            <a:endParaRPr lang="en-US" sz="1350"/>
          </a:p>
        </p:txBody>
      </p:sp>
      <p:sp>
        <p:nvSpPr>
          <p:cNvPr id="6" name="Shape 4"/>
          <p:cNvSpPr/>
          <p:nvPr/>
        </p:nvSpPr>
        <p:spPr>
          <a:xfrm>
            <a:off x="566928" y="2103120"/>
            <a:ext cx="146304" cy="146304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984248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not guessed
</a:t>
            </a:r>
            <a:r>
              <a:rPr lang="en-US" sz="13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doc traces back to the real codebase — accurate, not imagined.</a:t>
            </a:r>
            <a:endParaRPr lang="en-US" sz="1600"/>
          </a:p>
        </p:txBody>
      </p:sp>
      <p:sp>
        <p:nvSpPr>
          <p:cNvPr id="8" name="Shape 6"/>
          <p:cNvSpPr/>
          <p:nvPr/>
        </p:nvSpPr>
        <p:spPr>
          <a:xfrm>
            <a:off x="566928" y="3054096"/>
            <a:ext cx="146304" cy="146304"/>
          </a:xfrm>
          <a:prstGeom prst="ellipse">
            <a:avLst/>
          </a:prstGeom>
          <a:solidFill>
            <a:srgbClr val="2D7F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2935224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audience covered
</a:t>
            </a:r>
            <a:r>
              <a:rPr lang="en-US" sz="13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PM, architect, engineer and end-user — all from one source.</a:t>
            </a:r>
            <a:endParaRPr lang="en-US" sz="1600"/>
          </a:p>
        </p:txBody>
      </p:sp>
      <p:sp>
        <p:nvSpPr>
          <p:cNvPr id="10" name="Shape 8"/>
          <p:cNvSpPr/>
          <p:nvPr/>
        </p:nvSpPr>
        <p:spPr>
          <a:xfrm>
            <a:off x="566928" y="4005072"/>
            <a:ext cx="146304" cy="146304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388620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Alive, not stale
</a:t>
            </a:r>
            <a:r>
              <a:rPr lang="en-US" sz="13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Regenerate on change; keep it current in CI (next module).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>
          <a:xfrm>
            <a:off x="566928" y="4956048"/>
            <a:ext cx="146304" cy="146304"/>
          </a:xfrm>
          <a:prstGeom prst="ellipse">
            <a:avLst/>
          </a:prstGeom>
          <a:solidFill>
            <a:srgbClr val="2D7F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4837176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 is your value
</a:t>
            </a:r>
            <a:r>
              <a:rPr lang="en-US" sz="13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drafts; you review against a rubric. Next: bug triage → fix → CI.</a:t>
            </a:r>
            <a:endParaRPr lang="en-US" sz="1600"/>
          </a:p>
        </p:txBody>
      </p:sp>
      <p:sp>
        <p:nvSpPr>
          <p:cNvPr id="14" name="Shape 12"/>
          <p:cNvSpPr/>
          <p:nvPr/>
        </p:nvSpPr>
        <p:spPr>
          <a:xfrm>
            <a:off x="8732520" y="2011680"/>
            <a:ext cx="2971800" cy="1691640"/>
          </a:xfrm>
          <a:prstGeom prst="roundRect">
            <a:avLst>
              <a:gd name="adj" fmla="val 4324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732520" y="212140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>
                <a:solidFill>
                  <a:srgbClr val="2D7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days→min</a:t>
            </a:r>
            <a:endParaRPr lang="en-US" sz="5000"/>
          </a:p>
        </p:txBody>
      </p:sp>
      <p:sp>
        <p:nvSpPr>
          <p:cNvPr id="16" name="Text 14"/>
          <p:cNvSpPr/>
          <p:nvPr/>
        </p:nvSpPr>
        <p:spPr>
          <a:xfrm>
            <a:off x="8823960" y="299923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full documentation suite</a:t>
            </a:r>
            <a:endParaRPr lang="en-US" sz="1250"/>
          </a:p>
        </p:txBody>
      </p:sp>
      <p:sp>
        <p:nvSpPr>
          <p:cNvPr id="17" name="Shape 15"/>
          <p:cNvSpPr/>
          <p:nvPr/>
        </p:nvSpPr>
        <p:spPr>
          <a:xfrm>
            <a:off x="8732520" y="3840480"/>
            <a:ext cx="2971800" cy="1691640"/>
          </a:xfrm>
          <a:prstGeom prst="roundRect">
            <a:avLst>
              <a:gd name="adj" fmla="val 4324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732520" y="395020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>
                <a:solidFill>
                  <a:srgbClr val="1FB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5000"/>
          </a:p>
        </p:txBody>
      </p:sp>
      <p:sp>
        <p:nvSpPr>
          <p:cNvPr id="19" name="Text 17"/>
          <p:cNvSpPr/>
          <p:nvPr/>
        </p:nvSpPr>
        <p:spPr>
          <a:xfrm>
            <a:off x="8823960" y="482803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generated from one repo</a:t>
            </a:r>
            <a:endParaRPr lang="en-US" sz="1250"/>
          </a:p>
        </p:txBody>
      </p:sp>
      <p:sp>
        <p:nvSpPr>
          <p:cNvPr id="21" name="Text 18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3" name="Picture 22" descr="preencoded.png">
            <a:extLst>
              <a:ext uri="{FF2B5EF4-FFF2-40B4-BE49-F238E27FC236}">
                <a16:creationId xmlns:a16="http://schemas.microsoft.com/office/drawing/2014/main" id="{92BD9C5A-DB0A-BB9B-F72F-CE9A5CC207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doc suite — one repo, five documents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3" name="Picture 22" descr="preencoded.png">
            <a:extLst>
              <a:ext uri="{FF2B5EF4-FFF2-40B4-BE49-F238E27FC236}">
                <a16:creationId xmlns:a16="http://schemas.microsoft.com/office/drawing/2014/main" id="{92BD9C5A-DB0A-BB9B-F72F-CE9A5CC207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  <p:graphicFrame>
        <p:nvGraphicFramePr>
          <p:cNvPr id="220" name="Cheat"/>
          <p:cNvGraphicFramePr>
            <a:graphicFrameLocks noGrp="1"/>
          </p:cNvGraphicFramePr>
          <p:nvPr/>
        </p:nvGraphicFramePr>
        <p:xfrm>
          <a:off x="502920" y="1600000"/>
          <a:ext cx="11183112" cy="3760000"/>
        </p:xfrm>
        <a:graphic>
          <a:graphicData uri="http://schemas.openxmlformats.org/drawingml/2006/table">
            <a:tbl>
              <a:tblPr firstRow="1" bandRow="1"/>
              <a:tblGrid>
                <a:gridCol w="2050000"/>
                <a:gridCol w="3766556"/>
                <a:gridCol w="5366556"/>
              </a:tblGrid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Doc</a:t>
                      </a:r>
                    </a:p>
                  </a:txBody>
                  <a:tcPr marL="82296" marR="82296" marT="41000" marB="41000" anchor="ctr">
                    <a:solidFill>
                      <a:srgbClr val="0F22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Who it’s for / what it answers</a:t>
                      </a:r>
                    </a:p>
                  </a:txBody>
                  <a:tcPr marL="82296" marR="82296" marT="41000" marB="41000" anchor="ctr">
                    <a:solidFill>
                      <a:srgbClr val="0F22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How to generate it</a:t>
                      </a:r>
                    </a:p>
                  </a:txBody>
                  <a:tcPr marL="82296" marR="82296" marT="41000" marB="41000" anchor="ctr">
                    <a:solidFill>
                      <a:srgbClr val="0F2247"/>
                    </a:solidFill>
                  </a:tcPr>
                </a:tc>
              </a:tr>
              <a:tr h="68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Arial" pitchFamily="34" charset="0"/>
                          <a:cs typeface="Arial" pitchFamily="34" charset="0"/>
                        </a:rPr>
                        <a:t>PRD</a:t>
                      </a:r>
                    </a:p>
                  </a:txBody>
                  <a:tcPr marL="82296" marR="82296" marT="41000" marB="4100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PM · why + what, in one page</a:t>
                      </a:r>
                    </a:p>
                  </a:txBody>
                  <a:tcPr marL="82296" marR="82296" marT="41000" marB="4100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16264A"/>
                          </a:solidFill>
                          <a:latin typeface="Calibri" pitchFamily="34" charset="0"/>
                          <a:cs typeface="Calibri" pitchFamily="34" charset="0"/>
                        </a:rPr>
                        <a:t>“Interview me, then write a 1-page PRD for TaskFlow.”</a:t>
                      </a:r>
                    </a:p>
                  </a:txBody>
                  <a:tcPr marL="82296" marR="82296" marT="41000" marB="4100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Arial" pitchFamily="34" charset="0"/>
                          <a:cs typeface="Arial" pitchFamily="34" charset="0"/>
                        </a:rPr>
                        <a:t>HLD</a:t>
                      </a:r>
                    </a:p>
                  </a:txBody>
                  <a:tcPr marL="82296" marR="82296" marT="41000" marB="4100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Architect · how it fits together</a:t>
                      </a:r>
                    </a:p>
                  </a:txBody>
                  <a:tcPr marL="82296" marR="82296" marT="41000" marB="4100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16264A"/>
                          </a:solidFill>
                          <a:latin typeface="Calibri" pitchFamily="34" charset="0"/>
                          <a:cs typeface="Calibri" pitchFamily="34" charset="0"/>
                        </a:rPr>
                        <a:t>“Write an HLD from this repo + a Mermaid diagram.”</a:t>
                      </a:r>
                    </a:p>
                  </a:txBody>
                  <a:tcPr marL="82296" marR="82296" marT="41000" marB="4100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</a:tr>
              <a:tr h="68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Arial" pitchFamily="34" charset="0"/>
                          <a:cs typeface="Arial" pitchFamily="34" charset="0"/>
                        </a:rPr>
                        <a:t>LLD</a:t>
                      </a:r>
                    </a:p>
                  </a:txBody>
                  <a:tcPr marL="82296" marR="82296" marT="41000" marB="4100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Engineer · one service in detail</a:t>
                      </a:r>
                    </a:p>
                  </a:txBody>
                  <a:tcPr marL="82296" marR="82296" marT="41000" marB="4100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16264A"/>
                          </a:solidFill>
                          <a:latin typeface="Calibri" pitchFamily="34" charset="0"/>
                          <a:cs typeface="Calibri" pitchFamily="34" charset="0"/>
                        </a:rPr>
                        <a:t>“Write an LLD for the notifications service.”</a:t>
                      </a:r>
                    </a:p>
                  </a:txBody>
                  <a:tcPr marL="82296" marR="82296" marT="41000" marB="4100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Arial" pitchFamily="34" charset="0"/>
                          <a:cs typeface="Arial" pitchFamily="34" charset="0"/>
                        </a:rPr>
                        <a:t>Diagram</a:t>
                      </a:r>
                    </a:p>
                  </a:txBody>
                  <a:tcPr marL="82296" marR="82296" marT="41000" marB="4100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Everyone · the shape of the system</a:t>
                      </a:r>
                    </a:p>
                  </a:txBody>
                  <a:tcPr marL="82296" marR="82296" marT="41000" marB="4100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16264A"/>
                          </a:solidFill>
                          <a:latin typeface="Calibri" pitchFamily="34" charset="0"/>
                          <a:cs typeface="Calibri" pitchFamily="34" charset="0"/>
                        </a:rPr>
                        <a:t>“Generate a Mermaid C4 container diagram from the code.”</a:t>
                      </a:r>
                    </a:p>
                  </a:txBody>
                  <a:tcPr marL="82296" marR="82296" marT="41000" marB="4100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</a:tr>
              <a:tr h="68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Arial" pitchFamily="34" charset="0"/>
                          <a:cs typeface="Arial" pitchFamily="34" charset="0"/>
                        </a:rPr>
                        <a:t>User guide</a:t>
                      </a:r>
                    </a:p>
                  </a:txBody>
                  <a:tcPr marL="82296" marR="82296" marT="41000" marB="4100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End-user · how to use it</a:t>
                      </a:r>
                    </a:p>
                  </a:txBody>
                  <a:tcPr marL="82296" marR="82296" marT="41000" marB="4100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16264A"/>
                          </a:solidFill>
                          <a:latin typeface="Calibri" pitchFamily="34" charset="0"/>
                          <a:cs typeface="Calibri" pitchFamily="34" charset="0"/>
                        </a:rPr>
                        <a:t>“Write a plain-language user guide for TaskFlow.”</a:t>
                      </a:r>
                    </a:p>
                  </a:txBody>
                  <a:tcPr marL="82296" marR="82296" marT="41000" marB="4100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12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Analytics Vidhya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DataHack Summit 2026 — Speaker Template</dc:title>
  <dc:subject>PptxGenJS Presentation</dc:subject>
  <dc:creator>DataHack Summit 2026</dc:creator>
  <cp:revision>14</cp:revision>
  <dcterms:created xsi:type="dcterms:W3CDTF">2026-06-04T10:00:53Z</dcterms:created>
  <dcterms:modified xsi:type="dcterms:W3CDTF">2026-06-08T07:59:23Z</dcterms:modified>
</cp:coreProperties>
</file>